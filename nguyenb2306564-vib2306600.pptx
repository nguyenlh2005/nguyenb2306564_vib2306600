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  <p:sldId id="263" r:id="rId4"/>
    <p:sldId id="265" r:id="rId5"/>
    <p:sldId id="266" r:id="rId6"/>
    <p:sldId id="267" r:id="rId7"/>
    <p:sldId id="268" r:id="rId8"/>
    <p:sldId id="269" r:id="rId9"/>
    <p:sldId id="270" r:id="rId10"/>
    <p:sldId id="271" r:id="rId11"/>
    <p:sldId id="272" r:id="rId12"/>
    <p:sldId id="273" r:id="rId13"/>
    <p:sldId id="274" r:id="rId14"/>
    <p:sldId id="275" r:id="rId15"/>
    <p:sldId id="276" r:id="rId16"/>
    <p:sldId id="277" r:id="rId17"/>
    <p:sldId id="278" r:id="rId18"/>
    <p:sldId id="279" r:id="rId19"/>
    <p:sldId id="280" r:id="rId20"/>
    <p:sldId id="281" r:id="rId21"/>
    <p:sldId id="282" r:id="rId22"/>
    <p:sldId id="262" r:id="rId23"/>
    <p:sldId id="264" r:id="rId24"/>
  </p:sldIdLst>
  <p:sldSz cx="9144000" cy="6858000" type="screen4x3"/>
  <p:notesSz cx="6858000" cy="91440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96633"/>
    <a:srgbClr val="9A7200"/>
    <a:srgbClr val="CC9900"/>
    <a:srgbClr val="000099"/>
    <a:srgbClr val="0033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howGuides="1">
      <p:cViewPr varScale="1">
        <p:scale>
          <a:sx n="83" d="100"/>
          <a:sy n="83" d="100"/>
        </p:scale>
        <p:origin x="1435" y="7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7" Type="http://schemas.openxmlformats.org/officeDocument/2006/relationships/tableStyles" Target="tableStyles.xml"/><Relationship Id="rId26" Type="http://schemas.openxmlformats.org/officeDocument/2006/relationships/viewProps" Target="viewProps.xml"/><Relationship Id="rId25" Type="http://schemas.openxmlformats.org/officeDocument/2006/relationships/presProps" Target="presProps.xml"/><Relationship Id="rId24" Type="http://schemas.openxmlformats.org/officeDocument/2006/relationships/slide" Target="slides/slide22.xml"/><Relationship Id="rId23" Type="http://schemas.openxmlformats.org/officeDocument/2006/relationships/slide" Target="slides/slide21.xml"/><Relationship Id="rId22" Type="http://schemas.openxmlformats.org/officeDocument/2006/relationships/slide" Target="slides/slide20.xml"/><Relationship Id="rId21" Type="http://schemas.openxmlformats.org/officeDocument/2006/relationships/slide" Target="slides/slide19.xml"/><Relationship Id="rId20" Type="http://schemas.openxmlformats.org/officeDocument/2006/relationships/slide" Target="slides/slide18.xml"/><Relationship Id="rId2" Type="http://schemas.openxmlformats.org/officeDocument/2006/relationships/theme" Target="theme/theme1.xml"/><Relationship Id="rId19" Type="http://schemas.openxmlformats.org/officeDocument/2006/relationships/slide" Target="slides/slide17.xml"/><Relationship Id="rId18" Type="http://schemas.openxmlformats.org/officeDocument/2006/relationships/slide" Target="slides/slide16.xml"/><Relationship Id="rId17" Type="http://schemas.openxmlformats.org/officeDocument/2006/relationships/slide" Target="slides/slide15.xml"/><Relationship Id="rId16" Type="http://schemas.openxmlformats.org/officeDocument/2006/relationships/slide" Target="slides/slide14.xml"/><Relationship Id="rId15" Type="http://schemas.openxmlformats.org/officeDocument/2006/relationships/slide" Target="slides/slide13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2"/>
          <p:cNvSpPr>
            <a:spLocks noGrp="1" noChangeArrowheads="1"/>
          </p:cNvSpPr>
          <p:nvPr>
            <p:ph type="ctrTitle"/>
          </p:nvPr>
        </p:nvSpPr>
        <p:spPr>
          <a:xfrm>
            <a:off x="719138" y="2130425"/>
            <a:ext cx="7772400" cy="1470025"/>
          </a:xfrm>
        </p:spPr>
        <p:txBody>
          <a:bodyPr/>
          <a:lstStyle>
            <a:lvl1pPr>
              <a:defRPr sz="3600"/>
            </a:lvl1pPr>
          </a:lstStyle>
          <a:p>
            <a:pPr lvl="0"/>
            <a:r>
              <a:rPr lang="en-US" altLang="en-US" noProof="0"/>
              <a:t>Click to edit Master title style</a:t>
            </a:r>
            <a:endParaRPr lang="en-US" altLang="en-US" noProof="0"/>
          </a:p>
        </p:txBody>
      </p:sp>
      <p:sp>
        <p:nvSpPr>
          <p:cNvPr id="16387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FontTx/>
              <a:buNone/>
              <a:defRPr/>
            </a:lvl1pPr>
          </a:lstStyle>
          <a:p>
            <a:pPr lvl="0"/>
            <a:r>
              <a:rPr lang="en-US" altLang="en-US" noProof="0"/>
              <a:t>Click to edit Master subtitle style</a:t>
            </a:r>
            <a:endParaRPr lang="en-US" altLang="en-US" noProof="0"/>
          </a:p>
        </p:txBody>
      </p:sp>
      <p:sp>
        <p:nvSpPr>
          <p:cNvPr id="16388" name="Rectangle 4"/>
          <p:cNvSpPr>
            <a:spLocks noGrp="1" noChangeArrowheads="1"/>
          </p:cNvSpPr>
          <p:nvPr>
            <p:ph type="dt" sz="half" idx="2"/>
          </p:nvPr>
        </p:nvSpPr>
        <p:spPr>
          <a:xfrm>
            <a:off x="609600" y="6245225"/>
            <a:ext cx="1981200" cy="476250"/>
          </a:xfrm>
        </p:spPr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16389" name="Rectangle 5"/>
          <p:cNvSpPr>
            <a:spLocks noGrp="1" noChangeArrowheads="1"/>
          </p:cNvSpPr>
          <p:nvPr>
            <p:ph type="ftr" sz="quarter" idx="3"/>
          </p:nvPr>
        </p:nvSpPr>
        <p:spPr>
          <a:xfrm>
            <a:off x="3124200" y="6245225"/>
            <a:ext cx="2895600" cy="476250"/>
          </a:xfrm>
        </p:spPr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16390" name="Rectangle 6"/>
          <p:cNvSpPr>
            <a:spLocks noGrp="1" noChangeArrowheads="1"/>
          </p:cNvSpPr>
          <p:nvPr>
            <p:ph type="sldNum" sz="quarter" idx="4"/>
          </p:nvPr>
        </p:nvSpPr>
        <p:spPr>
          <a:xfrm>
            <a:off x="6716713" y="6230938"/>
            <a:ext cx="2133600" cy="549275"/>
          </a:xfrm>
        </p:spPr>
        <p:txBody>
          <a:bodyPr/>
          <a:lstStyle>
            <a:lvl1pPr>
              <a:defRPr/>
            </a:lvl1pPr>
          </a:lstStyle>
          <a:p>
            <a:fld id="{A15EAB53-327E-4220-A7C8-79A6407182B7}" type="slidenum">
              <a:rPr lang="en-US" altLang="en-US"/>
            </a:fld>
            <a:endParaRPr lang="en-US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F4F63AB-74FF-4D4D-9C96-7E67E70BF8FF}" type="slidenum">
              <a:rPr lang="en-US" altLang="en-US"/>
            </a:fld>
            <a:endParaRPr lang="en-US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8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3"/>
            <a:ext cx="7886700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/>
            <a:r>
              <a:rPr lang="en-US"/>
              <a:t>Edit Master text styles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FF88ED3-DC84-4DB0-B233-29AE8689A18E}" type="slidenum">
              <a:rPr lang="en-US" altLang="en-US"/>
            </a:fld>
            <a:endParaRPr lang="en-US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33538"/>
            <a:ext cx="4038600" cy="469106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800600" y="1633538"/>
            <a:ext cx="4038600" cy="469106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3D79D017-4D2B-4917-98EC-EFDC1350D1A8}" type="slidenum">
              <a:rPr lang="en-US" altLang="en-US"/>
            </a:fld>
            <a:endParaRPr lang="en-US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0238" y="365125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0238" y="1681163"/>
            <a:ext cx="386873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0238" y="2505075"/>
            <a:ext cx="386873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7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  <a:endParaRPr 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7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D3F7F60C-663B-45B5-8BAA-0CD5F56CC8F6}" type="slidenum">
              <a:rPr lang="en-US" altLang="en-US"/>
            </a:fld>
            <a:endParaRPr lang="en-US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C49BD403-5F74-427A-8423-78614D45D9C1}" type="slidenum">
              <a:rPr lang="en-US" altLang="en-US"/>
            </a:fld>
            <a:endParaRPr lang="en-US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A8445B6F-8FF7-4085-BE97-4B03885D15AA}" type="slidenum">
              <a:rPr lang="en-US" altLang="en-US"/>
            </a:fld>
            <a:endParaRPr lang="en-US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5A644C7-8C57-4BC2-BD31-5EE7CB8540FD}" type="slidenum">
              <a:rPr lang="en-US" altLang="en-US"/>
            </a:fld>
            <a:endParaRPr lang="en-US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B64E658-6E24-430E-B2BE-9BADE501346F}" type="slidenum">
              <a:rPr lang="en-US" altLang="en-US"/>
            </a:fld>
            <a:endParaRPr lang="en-US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8B4A5476-CA43-47FE-BA67-73FA2851AFC8}" type="slidenum">
              <a:rPr lang="en-US" altLang="en-US"/>
            </a:fld>
            <a:endParaRPr lang="en-US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781800" y="282575"/>
            <a:ext cx="2057400" cy="60420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82575"/>
            <a:ext cx="6019800" cy="6042025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4DC5CE5-D93D-42E1-A365-D1BB034BB8AD}" type="slidenum">
              <a:rPr lang="en-US" altLang="en-US"/>
            </a:fld>
            <a:endParaRPr lang="en-US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3" Type="http://schemas.openxmlformats.org/officeDocument/2006/relationships/theme" Target="../theme/theme1.xml"/><Relationship Id="rId12" Type="http://schemas.openxmlformats.org/officeDocument/2006/relationships/image" Target="../media/image1.png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1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1752600" y="282575"/>
            <a:ext cx="7086600" cy="9445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/>
          <a:lstStyle/>
          <a:p>
            <a:pPr lvl="0"/>
            <a:r>
              <a:rPr lang="en-US" altLang="en-US"/>
              <a:t>Click to edit Master title style</a:t>
            </a:r>
            <a:endParaRPr lang="en-US" altLang="en-US"/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609600" y="1633538"/>
            <a:ext cx="8229600" cy="469106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pPr lvl="0"/>
            <a:r>
              <a:rPr lang="en-US" altLang="en-US"/>
              <a:t>Click to edit Master text styles</a:t>
            </a:r>
            <a:endParaRPr lang="en-US" altLang="en-US"/>
          </a:p>
          <a:p>
            <a:pPr lvl="1"/>
            <a:r>
              <a:rPr lang="en-US" altLang="en-US"/>
              <a:t>Second level</a:t>
            </a:r>
            <a:endParaRPr lang="en-US" altLang="en-US"/>
          </a:p>
          <a:p>
            <a:pPr lvl="2"/>
            <a:r>
              <a:rPr lang="en-US" altLang="en-US"/>
              <a:t>Third level</a:t>
            </a:r>
            <a:endParaRPr lang="en-US" altLang="en-US"/>
          </a:p>
          <a:p>
            <a:pPr lvl="3"/>
            <a:r>
              <a:rPr lang="en-US" altLang="en-US"/>
              <a:t>Fourth level</a:t>
            </a:r>
            <a:endParaRPr lang="en-US" altLang="en-US"/>
          </a:p>
          <a:p>
            <a:pPr lvl="4"/>
            <a:r>
              <a:rPr lang="en-US" altLang="en-US"/>
              <a:t>Fifth level</a:t>
            </a:r>
            <a:endParaRPr lang="en-US" altLang="en-US"/>
          </a:p>
        </p:txBody>
      </p:sp>
      <p:sp>
        <p:nvSpPr>
          <p:cNvPr id="1028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09600" y="6278563"/>
            <a:ext cx="19812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>
              <a:defRPr sz="1400"/>
            </a:lvl1pPr>
          </a:lstStyle>
          <a:p>
            <a:endParaRPr lang="en-US" altLang="en-US"/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2719388" y="6283325"/>
            <a:ext cx="28956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algn="ctr">
              <a:defRPr sz="1400"/>
            </a:lvl1pPr>
          </a:lstStyle>
          <a:p>
            <a:endParaRPr lang="en-US" altLang="en-US"/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705600" y="6226175"/>
            <a:ext cx="2133600" cy="5540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algn="r">
              <a:defRPr sz="1400"/>
            </a:lvl1pPr>
          </a:lstStyle>
          <a:p>
            <a:fld id="{306FFC55-A7E0-43C6-B48A-D297196E04B7}" type="slidenum">
              <a:rPr lang="en-US" altLang="en-US"/>
            </a:fld>
            <a:endParaRPr lang="en-US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rtl="0" fontAlgn="base">
        <a:spcBef>
          <a:spcPct val="0"/>
        </a:spcBef>
        <a:spcAft>
          <a:spcPct val="0"/>
        </a:spcAft>
        <a:defRPr sz="3200" b="1" kern="1200">
          <a:solidFill>
            <a:srgbClr val="996633"/>
          </a:solidFill>
          <a:latin typeface="+mj-lt"/>
          <a:ea typeface="+mj-ea"/>
          <a:cs typeface="+mj-cs"/>
        </a:defRPr>
      </a:lvl1pPr>
      <a:lvl2pPr algn="l" rtl="0" fontAlgn="base">
        <a:spcBef>
          <a:spcPct val="0"/>
        </a:spcBef>
        <a:spcAft>
          <a:spcPct val="0"/>
        </a:spcAft>
        <a:defRPr sz="3200" b="1">
          <a:solidFill>
            <a:srgbClr val="996633"/>
          </a:solidFill>
          <a:latin typeface="Arial" panose="020B0604020202020204" pitchFamily="34" charset="0"/>
        </a:defRPr>
      </a:lvl2pPr>
      <a:lvl3pPr algn="l" rtl="0" fontAlgn="base">
        <a:spcBef>
          <a:spcPct val="0"/>
        </a:spcBef>
        <a:spcAft>
          <a:spcPct val="0"/>
        </a:spcAft>
        <a:defRPr sz="3200" b="1">
          <a:solidFill>
            <a:srgbClr val="996633"/>
          </a:solidFill>
          <a:latin typeface="Arial" panose="020B0604020202020204" pitchFamily="34" charset="0"/>
        </a:defRPr>
      </a:lvl3pPr>
      <a:lvl4pPr algn="l" rtl="0" fontAlgn="base">
        <a:spcBef>
          <a:spcPct val="0"/>
        </a:spcBef>
        <a:spcAft>
          <a:spcPct val="0"/>
        </a:spcAft>
        <a:defRPr sz="3200" b="1">
          <a:solidFill>
            <a:srgbClr val="996633"/>
          </a:solidFill>
          <a:latin typeface="Arial" panose="020B0604020202020204" pitchFamily="34" charset="0"/>
        </a:defRPr>
      </a:lvl4pPr>
      <a:lvl5pPr algn="l" rtl="0" fontAlgn="base">
        <a:spcBef>
          <a:spcPct val="0"/>
        </a:spcBef>
        <a:spcAft>
          <a:spcPct val="0"/>
        </a:spcAft>
        <a:defRPr sz="3200" b="1">
          <a:solidFill>
            <a:srgbClr val="996633"/>
          </a:solidFill>
          <a:latin typeface="Arial" panose="020B0604020202020204" pitchFamily="34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3200" b="1">
          <a:solidFill>
            <a:srgbClr val="996633"/>
          </a:solidFill>
          <a:latin typeface="Arial" panose="020B0604020202020204" pitchFamily="34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3200" b="1">
          <a:solidFill>
            <a:srgbClr val="996633"/>
          </a:solidFill>
          <a:latin typeface="Arial" panose="020B0604020202020204" pitchFamily="34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3200" b="1">
          <a:solidFill>
            <a:srgbClr val="996633"/>
          </a:solidFill>
          <a:latin typeface="Arial" panose="020B0604020202020204" pitchFamily="34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3200" b="1">
          <a:solidFill>
            <a:srgbClr val="996633"/>
          </a:solidFill>
          <a:latin typeface="Arial" panose="020B0604020202020204" pitchFamily="34" charset="0"/>
        </a:defRPr>
      </a:lvl9pPr>
    </p:titleStyle>
    <p:bodyStyle>
      <a:lvl1pPr marL="342900" indent="-342900" algn="l" rtl="0" fontAlgn="base">
        <a:spcBef>
          <a:spcPct val="20000"/>
        </a:spcBef>
        <a:spcAft>
          <a:spcPct val="0"/>
        </a:spcAft>
        <a:buChar char="•"/>
        <a:defRPr sz="2900" kern="1200">
          <a:solidFill>
            <a:srgbClr val="000066"/>
          </a:solidFill>
          <a:latin typeface="+mn-lt"/>
          <a:ea typeface="+mn-ea"/>
          <a:cs typeface="+mn-cs"/>
        </a:defRPr>
      </a:lvl1pPr>
      <a:lvl2pPr marL="742950" indent="-285750" algn="l" rtl="0" fontAlgn="base">
        <a:spcBef>
          <a:spcPct val="20000"/>
        </a:spcBef>
        <a:spcAft>
          <a:spcPct val="0"/>
        </a:spcAft>
        <a:buChar char="–"/>
        <a:defRPr sz="2600" kern="1200">
          <a:solidFill>
            <a:srgbClr val="000066"/>
          </a:solidFill>
          <a:latin typeface="+mn-lt"/>
          <a:ea typeface="+mn-ea"/>
          <a:cs typeface="+mn-cs"/>
        </a:defRPr>
      </a:lvl2pPr>
      <a:lvl3pPr marL="1143000" indent="-228600" algn="l" rtl="0" fontAlgn="base">
        <a:spcBef>
          <a:spcPct val="20000"/>
        </a:spcBef>
        <a:spcAft>
          <a:spcPct val="0"/>
        </a:spcAft>
        <a:buChar char="•"/>
        <a:defRPr sz="2200" kern="1200">
          <a:solidFill>
            <a:srgbClr val="000066"/>
          </a:solidFill>
          <a:latin typeface="+mn-lt"/>
          <a:ea typeface="+mn-ea"/>
          <a:cs typeface="+mn-cs"/>
        </a:defRPr>
      </a:lvl3pPr>
      <a:lvl4pPr marL="1600200" indent="-228600" algn="l" rtl="0" fontAlgn="base">
        <a:spcBef>
          <a:spcPct val="20000"/>
        </a:spcBef>
        <a:spcAft>
          <a:spcPct val="0"/>
        </a:spcAft>
        <a:buChar char="–"/>
        <a:defRPr kern="1200">
          <a:solidFill>
            <a:srgbClr val="000066"/>
          </a:solidFill>
          <a:latin typeface="+mn-lt"/>
          <a:ea typeface="+mn-ea"/>
          <a:cs typeface="+mn-cs"/>
        </a:defRPr>
      </a:lvl4pPr>
      <a:lvl5pPr marL="2057400" indent="-228600" algn="l" rtl="0" fontAlgn="base">
        <a:spcBef>
          <a:spcPct val="20000"/>
        </a:spcBef>
        <a:spcAft>
          <a:spcPct val="0"/>
        </a:spcAft>
        <a:buChar char="»"/>
        <a:defRPr kern="1200">
          <a:solidFill>
            <a:srgbClr val="000066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3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hyperlink" Target="https://www.facebook.com/groups/daihoccantho.ctu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0">
          <a:blip r:embed="rId1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2"/>
          <p:cNvSpPr>
            <a:spLocks noGrp="1" noChangeArrowheads="1"/>
          </p:cNvSpPr>
          <p:nvPr>
            <p:ph type="ctrTitle"/>
          </p:nvPr>
        </p:nvSpPr>
        <p:spPr>
          <a:xfrm>
            <a:off x="719138" y="2130426"/>
            <a:ext cx="7772400" cy="963612"/>
          </a:xfrm>
        </p:spPr>
        <p:txBody>
          <a:bodyPr/>
          <a:lstStyle/>
          <a:p>
            <a:pPr algn="ctr"/>
            <a:r>
              <a:rPr lang="en-US" smtClean="0"/>
              <a:t>HỆ THỐNG QUẢN LÝ SINH VIÊN</a:t>
            </a:r>
            <a:endParaRPr lang="en-US" altLang="en-US"/>
          </a:p>
        </p:txBody>
      </p:sp>
      <p:sp>
        <p:nvSpPr>
          <p:cNvPr id="2051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990600" y="3100965"/>
            <a:ext cx="7239000" cy="556635"/>
          </a:xfrm>
        </p:spPr>
        <p:txBody>
          <a:bodyPr/>
          <a:lstStyle/>
          <a:p>
            <a:r>
              <a:rPr lang="en-US" altLang="en-US" sz="2600" smtClean="0"/>
              <a:t>Báo cáo</a:t>
            </a:r>
            <a:r>
              <a:rPr lang="en-US" altLang="en-US" sz="2600" smtClean="0"/>
              <a:t> môn học: Quản trị dữ liệu – CT467</a:t>
            </a:r>
            <a:endParaRPr lang="en-US" altLang="en-US" sz="2600"/>
          </a:p>
        </p:txBody>
      </p:sp>
      <p:sp>
        <p:nvSpPr>
          <p:cNvPr id="2053" name="Text Box 5"/>
          <p:cNvSpPr txBox="1">
            <a:spLocks noChangeArrowheads="1"/>
          </p:cNvSpPr>
          <p:nvPr/>
        </p:nvSpPr>
        <p:spPr bwMode="auto">
          <a:xfrm>
            <a:off x="609600" y="6430963"/>
            <a:ext cx="3505200" cy="2746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 altLang="en-US" sz="1200" b="1" i="1" smtClean="0">
                <a:solidFill>
                  <a:srgbClr val="000066"/>
                </a:solidFill>
              </a:rPr>
              <a:t>motphutcantho.com</a:t>
            </a:r>
            <a:endParaRPr lang="en-US" altLang="en-US" sz="1200" b="1" i="1">
              <a:solidFill>
                <a:srgbClr val="000066"/>
              </a:solidFill>
            </a:endParaRPr>
          </a:p>
        </p:txBody>
      </p:sp>
      <p:sp>
        <p:nvSpPr>
          <p:cNvPr id="5" name="Rectangle 3"/>
          <p:cNvSpPr txBox="1">
            <a:spLocks noChangeArrowheads="1"/>
          </p:cNvSpPr>
          <p:nvPr/>
        </p:nvSpPr>
        <p:spPr bwMode="auto">
          <a:xfrm>
            <a:off x="709902" y="4495800"/>
            <a:ext cx="3938298" cy="130708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marL="0" indent="0" algn="ctr" rtl="0" fontAlgn="base">
              <a:spcBef>
                <a:spcPct val="20000"/>
              </a:spcBef>
              <a:spcAft>
                <a:spcPct val="0"/>
              </a:spcAft>
              <a:buFontTx/>
              <a:buNone/>
              <a:defRPr sz="2900" kern="1200">
                <a:solidFill>
                  <a:srgbClr val="000066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fontAlgn="base">
              <a:spcBef>
                <a:spcPct val="20000"/>
              </a:spcBef>
              <a:spcAft>
                <a:spcPct val="0"/>
              </a:spcAft>
              <a:buChar char="–"/>
              <a:defRPr sz="2600" kern="1200">
                <a:solidFill>
                  <a:srgbClr val="000066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fontAlgn="base">
              <a:spcBef>
                <a:spcPct val="20000"/>
              </a:spcBef>
              <a:spcAft>
                <a:spcPct val="0"/>
              </a:spcAft>
              <a:buChar char="•"/>
              <a:defRPr sz="2200" kern="1200">
                <a:solidFill>
                  <a:srgbClr val="000066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fontAlgn="base">
              <a:spcBef>
                <a:spcPct val="20000"/>
              </a:spcBef>
              <a:spcAft>
                <a:spcPct val="0"/>
              </a:spcAft>
              <a:buChar char="–"/>
              <a:defRPr kern="1200">
                <a:solidFill>
                  <a:srgbClr val="000066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kern="1200">
                <a:solidFill>
                  <a:srgbClr val="000066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altLang="en-US" sz="2400" b="1" smtClean="0"/>
              <a:t>Thành viên nhóm:</a:t>
            </a:r>
            <a:endParaRPr lang="en-US" altLang="en-US" sz="2400" b="1" smtClean="0"/>
          </a:p>
          <a:p>
            <a:pPr algn="l"/>
            <a:r>
              <a:rPr lang="en-US" altLang="en-US" sz="2000" smtClean="0"/>
              <a:t>Lê Hoàng Nguyên – B2306564</a:t>
            </a:r>
            <a:endParaRPr lang="en-US" altLang="en-US" sz="2000" smtClean="0"/>
          </a:p>
          <a:p>
            <a:pPr algn="l"/>
            <a:r>
              <a:rPr lang="en-US" altLang="en-US" sz="2000" smtClean="0"/>
              <a:t>Trịnh Minh Vĩ – B2306600</a:t>
            </a:r>
            <a:endParaRPr lang="en-US" altLang="en-US" sz="2000"/>
          </a:p>
        </p:txBody>
      </p:sp>
      <p:sp>
        <p:nvSpPr>
          <p:cNvPr id="6" name="Rectangle 3"/>
          <p:cNvSpPr txBox="1">
            <a:spLocks noChangeArrowheads="1"/>
          </p:cNvSpPr>
          <p:nvPr/>
        </p:nvSpPr>
        <p:spPr bwMode="auto">
          <a:xfrm>
            <a:off x="4724400" y="4495800"/>
            <a:ext cx="3938298" cy="130708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marL="0" indent="0" algn="ctr" rtl="0" fontAlgn="base">
              <a:spcBef>
                <a:spcPct val="20000"/>
              </a:spcBef>
              <a:spcAft>
                <a:spcPct val="0"/>
              </a:spcAft>
              <a:buFontTx/>
              <a:buNone/>
              <a:defRPr sz="2900" kern="1200">
                <a:solidFill>
                  <a:srgbClr val="000066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fontAlgn="base">
              <a:spcBef>
                <a:spcPct val="20000"/>
              </a:spcBef>
              <a:spcAft>
                <a:spcPct val="0"/>
              </a:spcAft>
              <a:buChar char="–"/>
              <a:defRPr sz="2600" kern="1200">
                <a:solidFill>
                  <a:srgbClr val="000066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fontAlgn="base">
              <a:spcBef>
                <a:spcPct val="20000"/>
              </a:spcBef>
              <a:spcAft>
                <a:spcPct val="0"/>
              </a:spcAft>
              <a:buChar char="•"/>
              <a:defRPr sz="2200" kern="1200">
                <a:solidFill>
                  <a:srgbClr val="000066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fontAlgn="base">
              <a:spcBef>
                <a:spcPct val="20000"/>
              </a:spcBef>
              <a:spcAft>
                <a:spcPct val="0"/>
              </a:spcAft>
              <a:buChar char="–"/>
              <a:defRPr kern="1200">
                <a:solidFill>
                  <a:srgbClr val="000066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kern="1200">
                <a:solidFill>
                  <a:srgbClr val="000066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en-US" sz="2400" b="1" smtClean="0"/>
              <a:t>Giáo viên hướng dẫn:</a:t>
            </a:r>
            <a:endParaRPr lang="en-US" altLang="en-US" sz="2400" b="1" smtClean="0"/>
          </a:p>
          <a:p>
            <a:pPr algn="r"/>
            <a:r>
              <a:rPr lang="en-US" altLang="en-US" sz="2000" smtClean="0"/>
              <a:t>Trần Công Án</a:t>
            </a:r>
            <a:endParaRPr lang="en-US" altLang="en-US" sz="200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THÔNG TIN </a:t>
            </a:r>
            <a:r>
              <a:rPr lang="en-US" smtClean="0"/>
              <a:t>CHUNG</a:t>
            </a:r>
            <a:endParaRPr lang="en-US" altLang="en-US"/>
          </a:p>
        </p:txBody>
      </p:sp>
      <p:sp>
        <p:nvSpPr>
          <p:cNvPr id="25603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762000" y="1633538"/>
            <a:ext cx="8077200" cy="4767262"/>
          </a:xfrm>
        </p:spPr>
        <p:txBody>
          <a:bodyPr/>
          <a:lstStyle/>
          <a:p>
            <a:endParaRPr lang="en-US" altLang="en-US"/>
          </a:p>
        </p:txBody>
      </p:sp>
      <p:sp>
        <p:nvSpPr>
          <p:cNvPr id="4" name="Text Box 5"/>
          <p:cNvSpPr txBox="1">
            <a:spLocks noChangeArrowheads="1"/>
          </p:cNvSpPr>
          <p:nvPr/>
        </p:nvSpPr>
        <p:spPr bwMode="auto">
          <a:xfrm>
            <a:off x="609600" y="6430963"/>
            <a:ext cx="3505200" cy="2746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 altLang="en-US" sz="1200" b="1" i="1" smtClean="0">
                <a:solidFill>
                  <a:srgbClr val="000066"/>
                </a:solidFill>
              </a:rPr>
              <a:t>motphutcantho.com</a:t>
            </a:r>
            <a:endParaRPr lang="en-US" altLang="en-US" sz="1200" b="1" i="1">
              <a:solidFill>
                <a:srgbClr val="000066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CHỨC NĂNG CỦA HỆ </a:t>
            </a:r>
            <a:r>
              <a:rPr lang="en-US" smtClean="0"/>
              <a:t>THỐNG</a:t>
            </a:r>
            <a:endParaRPr lang="en-US" altLang="en-US"/>
          </a:p>
        </p:txBody>
      </p:sp>
      <p:sp>
        <p:nvSpPr>
          <p:cNvPr id="25603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762000" y="1633538"/>
            <a:ext cx="8077200" cy="4767262"/>
          </a:xfrm>
        </p:spPr>
        <p:txBody>
          <a:bodyPr/>
          <a:lstStyle/>
          <a:p>
            <a:r>
              <a:rPr lang="vi-VN"/>
              <a:t>Hệ thống được thiết kế theo 3 phân hệ chính dựa trên vai trò người dùng:</a:t>
            </a:r>
            <a:endParaRPr lang="vi-VN"/>
          </a:p>
          <a:p>
            <a:pPr lvl="1"/>
            <a:r>
              <a:rPr lang="en-US" b="1" err="1"/>
              <a:t>Phân</a:t>
            </a:r>
            <a:r>
              <a:rPr lang="en-US" b="1"/>
              <a:t> </a:t>
            </a:r>
            <a:r>
              <a:rPr lang="en-US" b="1" err="1"/>
              <a:t>hệ</a:t>
            </a:r>
            <a:r>
              <a:rPr lang="en-US" b="1"/>
              <a:t> Admin</a:t>
            </a:r>
            <a:endParaRPr lang="en-US"/>
          </a:p>
          <a:p>
            <a:pPr lvl="1"/>
            <a:r>
              <a:rPr lang="en-US" b="1" err="1"/>
              <a:t>Phân</a:t>
            </a:r>
            <a:r>
              <a:rPr lang="en-US" b="1"/>
              <a:t> </a:t>
            </a:r>
            <a:r>
              <a:rPr lang="en-US" b="1" err="1"/>
              <a:t>hệ</a:t>
            </a:r>
            <a:r>
              <a:rPr lang="en-US" b="1"/>
              <a:t> </a:t>
            </a:r>
            <a:r>
              <a:rPr lang="en-US" b="1" err="1"/>
              <a:t>Giảng</a:t>
            </a:r>
            <a:r>
              <a:rPr lang="en-US" b="1"/>
              <a:t> </a:t>
            </a:r>
            <a:r>
              <a:rPr lang="en-US" b="1" err="1"/>
              <a:t>viên</a:t>
            </a:r>
            <a:endParaRPr lang="en-US"/>
          </a:p>
          <a:p>
            <a:pPr lvl="1"/>
            <a:r>
              <a:rPr lang="en-US" b="1" err="1"/>
              <a:t>Phân</a:t>
            </a:r>
            <a:r>
              <a:rPr lang="en-US" b="1"/>
              <a:t> </a:t>
            </a:r>
            <a:r>
              <a:rPr lang="en-US" b="1" err="1"/>
              <a:t>hệ</a:t>
            </a:r>
            <a:r>
              <a:rPr lang="en-US" b="1"/>
              <a:t> </a:t>
            </a:r>
            <a:r>
              <a:rPr lang="en-US" b="1" err="1"/>
              <a:t>Sinh</a:t>
            </a:r>
            <a:r>
              <a:rPr lang="en-US" b="1"/>
              <a:t> </a:t>
            </a:r>
            <a:r>
              <a:rPr lang="en-US" b="1" err="1"/>
              <a:t>viên</a:t>
            </a:r>
            <a:endParaRPr lang="en-US"/>
          </a:p>
          <a:p>
            <a:pPr lvl="1"/>
            <a:endParaRPr lang="en-US" altLang="en-US"/>
          </a:p>
        </p:txBody>
      </p:sp>
      <p:sp>
        <p:nvSpPr>
          <p:cNvPr id="4" name="Text Box 5"/>
          <p:cNvSpPr txBox="1">
            <a:spLocks noChangeArrowheads="1"/>
          </p:cNvSpPr>
          <p:nvPr/>
        </p:nvSpPr>
        <p:spPr bwMode="auto">
          <a:xfrm>
            <a:off x="609600" y="6430963"/>
            <a:ext cx="3505200" cy="2746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 altLang="en-US" sz="1200" b="1" i="1" smtClean="0">
                <a:solidFill>
                  <a:srgbClr val="000066"/>
                </a:solidFill>
              </a:rPr>
              <a:t>motphutcantho.com</a:t>
            </a:r>
            <a:endParaRPr lang="en-US" altLang="en-US" sz="1200" b="1" i="1">
              <a:solidFill>
                <a:srgbClr val="000066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CHỨC NĂNG CỦA HỆ THỐNG</a:t>
            </a:r>
            <a:endParaRPr lang="en-US" altLang="en-US"/>
          </a:p>
        </p:txBody>
      </p:sp>
      <p:sp>
        <p:nvSpPr>
          <p:cNvPr id="25603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762000" y="1633538"/>
            <a:ext cx="8077200" cy="4767262"/>
          </a:xfrm>
        </p:spPr>
        <p:txBody>
          <a:bodyPr/>
          <a:lstStyle/>
          <a:p>
            <a:r>
              <a:rPr lang="en-US" b="1" err="1"/>
              <a:t>Phân</a:t>
            </a:r>
            <a:r>
              <a:rPr lang="en-US" b="1"/>
              <a:t> </a:t>
            </a:r>
            <a:r>
              <a:rPr lang="en-US" b="1" err="1"/>
              <a:t>hệ</a:t>
            </a:r>
            <a:r>
              <a:rPr lang="en-US" b="1"/>
              <a:t> Admin:</a:t>
            </a:r>
            <a:endParaRPr lang="en-US"/>
          </a:p>
          <a:p>
            <a:pPr lvl="1"/>
            <a:r>
              <a:rPr lang="vi-VN" sz="2400" b="1" smtClean="0"/>
              <a:t>Quản </a:t>
            </a:r>
            <a:r>
              <a:rPr lang="vi-VN" sz="2400" b="1"/>
              <a:t>lý cấu trúc đào tạo</a:t>
            </a:r>
            <a:r>
              <a:rPr lang="vi-VN" sz="2400" b="1" smtClean="0"/>
              <a:t>:</a:t>
            </a:r>
            <a:r>
              <a:rPr lang="vi-VN" sz="2400" smtClean="0"/>
              <a:t> </a:t>
            </a:r>
            <a:r>
              <a:rPr lang="vi-VN" sz="2400"/>
              <a:t>CRUD Khoa, Ngành, Lớp hành chính.</a:t>
            </a:r>
            <a:endParaRPr lang="vi-VN" sz="2400"/>
          </a:p>
          <a:p>
            <a:pPr lvl="1"/>
            <a:r>
              <a:rPr lang="vi-VN" sz="2400" b="1" smtClean="0"/>
              <a:t>Quản </a:t>
            </a:r>
            <a:r>
              <a:rPr lang="vi-VN" sz="2400" b="1"/>
              <a:t>lý khung chương trình</a:t>
            </a:r>
            <a:r>
              <a:rPr lang="vi-VN" sz="2400" b="1" smtClean="0"/>
              <a:t>:</a:t>
            </a:r>
            <a:r>
              <a:rPr lang="vi-VN" sz="2400" smtClean="0"/>
              <a:t> </a:t>
            </a:r>
            <a:r>
              <a:rPr lang="vi-VN" sz="2400"/>
              <a:t>Quản lý danh mục Môn học, số tín chỉ.</a:t>
            </a:r>
            <a:endParaRPr lang="vi-VN" sz="2400"/>
          </a:p>
          <a:p>
            <a:pPr lvl="1"/>
            <a:r>
              <a:rPr lang="vi-VN" sz="2400" b="1" smtClean="0"/>
              <a:t>Cấu </a:t>
            </a:r>
            <a:r>
              <a:rPr lang="vi-VN" sz="2400" b="1"/>
              <a:t>hình hệ </a:t>
            </a:r>
            <a:r>
              <a:rPr lang="vi-VN" sz="2400" b="1" smtClean="0"/>
              <a:t>thống:</a:t>
            </a:r>
            <a:r>
              <a:rPr lang="en-US" sz="2400" b="1" smtClean="0"/>
              <a:t> </a:t>
            </a:r>
            <a:r>
              <a:rPr lang="vi-VN" sz="2400" smtClean="0"/>
              <a:t>Quản </a:t>
            </a:r>
            <a:r>
              <a:rPr lang="vi-VN" sz="2400"/>
              <a:t>lý Học kỳ, thiết lập đơn giá tín chỉ theo năm học.</a:t>
            </a:r>
            <a:endParaRPr lang="vi-VN" sz="2400"/>
          </a:p>
          <a:p>
            <a:pPr lvl="1"/>
            <a:r>
              <a:rPr lang="vi-VN" sz="2400" b="1" smtClean="0"/>
              <a:t>Quản </a:t>
            </a:r>
            <a:r>
              <a:rPr lang="vi-VN" sz="2400" b="1"/>
              <a:t>lý hồ sơ nhân sự</a:t>
            </a:r>
            <a:r>
              <a:rPr lang="vi-VN" sz="2400" b="1" smtClean="0"/>
              <a:t>:</a:t>
            </a:r>
            <a:r>
              <a:rPr lang="vi-VN" sz="2400" smtClean="0"/>
              <a:t> </a:t>
            </a:r>
            <a:r>
              <a:rPr lang="vi-VN" sz="2400"/>
              <a:t>Quản lý thông tin Giảng viên, Sinh viên; tự động cấp tài khoản.</a:t>
            </a:r>
            <a:endParaRPr lang="vi-VN" sz="2400"/>
          </a:p>
          <a:p>
            <a:pPr lvl="1"/>
            <a:r>
              <a:rPr lang="vi-VN" sz="2400" b="1" smtClean="0"/>
              <a:t>Thống </a:t>
            </a:r>
            <a:r>
              <a:rPr lang="vi-VN" sz="2400" b="1"/>
              <a:t>kê &amp; Báo cáo</a:t>
            </a:r>
            <a:r>
              <a:rPr lang="vi-VN" sz="2400" b="1" smtClean="0"/>
              <a:t>:</a:t>
            </a:r>
            <a:r>
              <a:rPr lang="vi-VN" sz="2400" smtClean="0"/>
              <a:t> </a:t>
            </a:r>
            <a:r>
              <a:rPr lang="vi-VN" sz="2400"/>
              <a:t>Xem báo cáo doanh thu học phí, danh sách nợ phí.</a:t>
            </a:r>
            <a:endParaRPr lang="vi-VN" sz="2400"/>
          </a:p>
          <a:p>
            <a:endParaRPr lang="en-US" altLang="en-US"/>
          </a:p>
        </p:txBody>
      </p:sp>
      <p:sp>
        <p:nvSpPr>
          <p:cNvPr id="4" name="Text Box 5"/>
          <p:cNvSpPr txBox="1">
            <a:spLocks noChangeArrowheads="1"/>
          </p:cNvSpPr>
          <p:nvPr/>
        </p:nvSpPr>
        <p:spPr bwMode="auto">
          <a:xfrm>
            <a:off x="609600" y="6430963"/>
            <a:ext cx="3505200" cy="2746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 altLang="en-US" sz="1200" b="1" i="1" smtClean="0">
                <a:solidFill>
                  <a:srgbClr val="000066"/>
                </a:solidFill>
              </a:rPr>
              <a:t>motphutcantho.com</a:t>
            </a:r>
            <a:endParaRPr lang="en-US" altLang="en-US" sz="1200" b="1" i="1">
              <a:solidFill>
                <a:srgbClr val="000066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CHỨC NĂNG CỦA HỆ THỐNG</a:t>
            </a:r>
            <a:endParaRPr lang="en-US" altLang="en-US"/>
          </a:p>
        </p:txBody>
      </p:sp>
      <p:sp>
        <p:nvSpPr>
          <p:cNvPr id="25603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762000" y="1633538"/>
            <a:ext cx="8077200" cy="4767262"/>
          </a:xfrm>
        </p:spPr>
        <p:txBody>
          <a:bodyPr/>
          <a:lstStyle/>
          <a:p>
            <a:r>
              <a:rPr lang="en-US" b="1" err="1"/>
              <a:t>Phân</a:t>
            </a:r>
            <a:r>
              <a:rPr lang="en-US" b="1"/>
              <a:t> </a:t>
            </a:r>
            <a:r>
              <a:rPr lang="en-US" b="1" err="1"/>
              <a:t>hệ</a:t>
            </a:r>
            <a:r>
              <a:rPr lang="en-US" b="1"/>
              <a:t> </a:t>
            </a:r>
            <a:r>
              <a:rPr lang="en-US" b="1" err="1"/>
              <a:t>Giảng</a:t>
            </a:r>
            <a:r>
              <a:rPr lang="en-US" b="1"/>
              <a:t> </a:t>
            </a:r>
            <a:r>
              <a:rPr lang="en-US" b="1" err="1"/>
              <a:t>viên</a:t>
            </a:r>
            <a:r>
              <a:rPr lang="en-US" b="1"/>
              <a:t>:</a:t>
            </a:r>
            <a:endParaRPr lang="en-US"/>
          </a:p>
          <a:p>
            <a:pPr lvl="1"/>
            <a:r>
              <a:rPr lang="vi-VN" b="1" smtClean="0"/>
              <a:t>Tra </a:t>
            </a:r>
            <a:r>
              <a:rPr lang="vi-VN" b="1"/>
              <a:t>cứu </a:t>
            </a:r>
            <a:r>
              <a:rPr lang="en-US" b="1" err="1" smtClean="0"/>
              <a:t>môn</a:t>
            </a:r>
            <a:r>
              <a:rPr lang="en-US" b="1" smtClean="0"/>
              <a:t> </a:t>
            </a:r>
            <a:r>
              <a:rPr lang="en-US" b="1" err="1" smtClean="0"/>
              <a:t>học</a:t>
            </a:r>
            <a:r>
              <a:rPr lang="en-US" b="1" smtClean="0"/>
              <a:t> </a:t>
            </a:r>
            <a:r>
              <a:rPr lang="en-US" b="1" err="1" smtClean="0"/>
              <a:t>phụ</a:t>
            </a:r>
            <a:r>
              <a:rPr lang="en-US" b="1" smtClean="0"/>
              <a:t> </a:t>
            </a:r>
            <a:r>
              <a:rPr lang="en-US" b="1" err="1" smtClean="0"/>
              <a:t>trách</a:t>
            </a:r>
            <a:r>
              <a:rPr lang="vi-VN" b="1" smtClean="0"/>
              <a:t>:</a:t>
            </a:r>
            <a:r>
              <a:rPr lang="vi-VN" smtClean="0"/>
              <a:t>Xem </a:t>
            </a:r>
            <a:r>
              <a:rPr lang="vi-VN"/>
              <a:t>danh sách các lớp học phần được phân công trong kỳ.</a:t>
            </a:r>
            <a:endParaRPr lang="vi-VN"/>
          </a:p>
          <a:p>
            <a:pPr lvl="1"/>
            <a:r>
              <a:rPr lang="vi-VN" b="1" smtClean="0"/>
              <a:t>Quản </a:t>
            </a:r>
            <a:r>
              <a:rPr lang="vi-VN" b="1"/>
              <a:t>lý điểm</a:t>
            </a:r>
            <a:r>
              <a:rPr lang="vi-VN" b="1" smtClean="0"/>
              <a:t>:</a:t>
            </a:r>
            <a:r>
              <a:rPr lang="vi-VN" smtClean="0"/>
              <a:t> </a:t>
            </a:r>
            <a:r>
              <a:rPr lang="vi-VN"/>
              <a:t>Nhập điểm và cập nhật điểm số cho sinh viên trong lớp.</a:t>
            </a:r>
            <a:endParaRPr lang="vi-VN"/>
          </a:p>
          <a:p>
            <a:pPr lvl="1"/>
            <a:r>
              <a:rPr lang="vi-VN" b="1" smtClean="0"/>
              <a:t>Báo </a:t>
            </a:r>
            <a:r>
              <a:rPr lang="vi-VN" b="1"/>
              <a:t>cáo chất lượng</a:t>
            </a:r>
            <a:r>
              <a:rPr lang="vi-VN" b="1" smtClean="0"/>
              <a:t>:</a:t>
            </a:r>
            <a:r>
              <a:rPr lang="vi-VN" smtClean="0"/>
              <a:t> </a:t>
            </a:r>
            <a:r>
              <a:rPr lang="vi-VN"/>
              <a:t>Xem thống kê tỷ lệ Đậu/Rớt của lớp phụ trách.</a:t>
            </a:r>
            <a:endParaRPr lang="vi-VN"/>
          </a:p>
          <a:p>
            <a:endParaRPr lang="en-US" altLang="en-US"/>
          </a:p>
        </p:txBody>
      </p:sp>
      <p:sp>
        <p:nvSpPr>
          <p:cNvPr id="4" name="Text Box 5"/>
          <p:cNvSpPr txBox="1">
            <a:spLocks noChangeArrowheads="1"/>
          </p:cNvSpPr>
          <p:nvPr/>
        </p:nvSpPr>
        <p:spPr bwMode="auto">
          <a:xfrm>
            <a:off x="609600" y="6430963"/>
            <a:ext cx="3505200" cy="2746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 altLang="en-US" sz="1200" b="1" i="1" smtClean="0">
                <a:solidFill>
                  <a:srgbClr val="000066"/>
                </a:solidFill>
              </a:rPr>
              <a:t>motphutcantho.com</a:t>
            </a:r>
            <a:endParaRPr lang="en-US" altLang="en-US" sz="1200" b="1" i="1">
              <a:solidFill>
                <a:srgbClr val="000066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CHỨC NĂNG CỦA HỆ THỐNG</a:t>
            </a:r>
            <a:endParaRPr lang="en-US" altLang="en-US"/>
          </a:p>
        </p:txBody>
      </p:sp>
      <p:sp>
        <p:nvSpPr>
          <p:cNvPr id="25603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762000" y="1633538"/>
            <a:ext cx="8077200" cy="4767262"/>
          </a:xfrm>
        </p:spPr>
        <p:txBody>
          <a:bodyPr/>
          <a:lstStyle/>
          <a:p>
            <a:r>
              <a:rPr lang="en-US" b="1" err="1"/>
              <a:t>Phân</a:t>
            </a:r>
            <a:r>
              <a:rPr lang="en-US" b="1"/>
              <a:t> </a:t>
            </a:r>
            <a:r>
              <a:rPr lang="en-US" b="1" err="1"/>
              <a:t>hệ</a:t>
            </a:r>
            <a:r>
              <a:rPr lang="en-US" b="1"/>
              <a:t> </a:t>
            </a:r>
            <a:r>
              <a:rPr lang="en-US" b="1" err="1"/>
              <a:t>Sinh</a:t>
            </a:r>
            <a:r>
              <a:rPr lang="en-US" b="1"/>
              <a:t> </a:t>
            </a:r>
            <a:r>
              <a:rPr lang="en-US" b="1" err="1"/>
              <a:t>viên</a:t>
            </a:r>
            <a:r>
              <a:rPr lang="en-US" b="1"/>
              <a:t>:</a:t>
            </a:r>
            <a:endParaRPr lang="en-US"/>
          </a:p>
          <a:p>
            <a:pPr lvl="1"/>
            <a:r>
              <a:rPr lang="en-US" b="1" err="1" smtClean="0"/>
              <a:t>Đăng</a:t>
            </a:r>
            <a:r>
              <a:rPr lang="en-US" b="1" smtClean="0"/>
              <a:t> </a:t>
            </a:r>
            <a:r>
              <a:rPr lang="en-US" b="1" err="1"/>
              <a:t>ký</a:t>
            </a:r>
            <a:r>
              <a:rPr lang="en-US" b="1"/>
              <a:t> </a:t>
            </a:r>
            <a:r>
              <a:rPr lang="en-US" b="1" err="1"/>
              <a:t>học</a:t>
            </a:r>
            <a:r>
              <a:rPr lang="en-US" b="1"/>
              <a:t> </a:t>
            </a:r>
            <a:r>
              <a:rPr lang="en-US" b="1" err="1"/>
              <a:t>phần</a:t>
            </a:r>
            <a:r>
              <a:rPr lang="en-US" b="1" smtClean="0"/>
              <a:t>:</a:t>
            </a:r>
            <a:r>
              <a:rPr lang="en-US" smtClean="0"/>
              <a:t> </a:t>
            </a:r>
            <a:r>
              <a:rPr lang="en-US" err="1"/>
              <a:t>Đăng</a:t>
            </a:r>
            <a:r>
              <a:rPr lang="en-US"/>
              <a:t> </a:t>
            </a:r>
            <a:r>
              <a:rPr lang="en-US" err="1"/>
              <a:t>ký</a:t>
            </a:r>
            <a:r>
              <a:rPr lang="en-US"/>
              <a:t> </a:t>
            </a:r>
            <a:r>
              <a:rPr lang="en-US" err="1"/>
              <a:t>môn</a:t>
            </a:r>
            <a:r>
              <a:rPr lang="en-US"/>
              <a:t> </a:t>
            </a:r>
            <a:r>
              <a:rPr lang="en-US" err="1"/>
              <a:t>học</a:t>
            </a:r>
            <a:r>
              <a:rPr lang="en-US"/>
              <a:t> </a:t>
            </a:r>
            <a:r>
              <a:rPr lang="en-US" err="1"/>
              <a:t>trong</a:t>
            </a:r>
            <a:r>
              <a:rPr lang="en-US"/>
              <a:t> </a:t>
            </a:r>
            <a:r>
              <a:rPr lang="en-US" err="1"/>
              <a:t>học</a:t>
            </a:r>
            <a:r>
              <a:rPr lang="en-US"/>
              <a:t> </a:t>
            </a:r>
            <a:r>
              <a:rPr lang="en-US" err="1"/>
              <a:t>kỳ</a:t>
            </a:r>
            <a:r>
              <a:rPr lang="en-US"/>
              <a:t> </a:t>
            </a:r>
            <a:r>
              <a:rPr lang="en-US" err="1"/>
              <a:t>đang</a:t>
            </a:r>
            <a:r>
              <a:rPr lang="en-US"/>
              <a:t> </a:t>
            </a:r>
            <a:r>
              <a:rPr lang="en-US" err="1"/>
              <a:t>mở</a:t>
            </a:r>
            <a:r>
              <a:rPr lang="en-US"/>
              <a:t>.</a:t>
            </a:r>
            <a:endParaRPr lang="en-US"/>
          </a:p>
          <a:p>
            <a:pPr lvl="1"/>
            <a:r>
              <a:rPr lang="en-US" b="1" err="1" smtClean="0"/>
              <a:t>Quản</a:t>
            </a:r>
            <a:r>
              <a:rPr lang="en-US" b="1" smtClean="0"/>
              <a:t> </a:t>
            </a:r>
            <a:r>
              <a:rPr lang="en-US" b="1" err="1"/>
              <a:t>lý</a:t>
            </a:r>
            <a:r>
              <a:rPr lang="en-US" b="1"/>
              <a:t> </a:t>
            </a:r>
            <a:r>
              <a:rPr lang="en-US" b="1" err="1"/>
              <a:t>học</a:t>
            </a:r>
            <a:r>
              <a:rPr lang="en-US" b="1"/>
              <a:t> </a:t>
            </a:r>
            <a:r>
              <a:rPr lang="en-US" b="1" err="1"/>
              <a:t>tập</a:t>
            </a:r>
            <a:r>
              <a:rPr lang="en-US" b="1" smtClean="0"/>
              <a:t>:</a:t>
            </a:r>
            <a:r>
              <a:rPr lang="en-US" smtClean="0"/>
              <a:t> </a:t>
            </a:r>
            <a:r>
              <a:rPr lang="en-US" err="1"/>
              <a:t>Xem</a:t>
            </a:r>
            <a:r>
              <a:rPr lang="en-US"/>
              <a:t> </a:t>
            </a:r>
            <a:r>
              <a:rPr lang="en-US" err="1"/>
              <a:t>bảng</a:t>
            </a:r>
            <a:r>
              <a:rPr lang="en-US"/>
              <a:t> </a:t>
            </a:r>
            <a:r>
              <a:rPr lang="en-US" err="1"/>
              <a:t>điểm</a:t>
            </a:r>
            <a:r>
              <a:rPr lang="en-US"/>
              <a:t> chi </a:t>
            </a:r>
            <a:r>
              <a:rPr lang="en-US" err="1"/>
              <a:t>tiết</a:t>
            </a:r>
            <a:r>
              <a:rPr lang="en-US"/>
              <a:t>, </a:t>
            </a:r>
            <a:r>
              <a:rPr lang="en-US" err="1"/>
              <a:t>tự</a:t>
            </a:r>
            <a:r>
              <a:rPr lang="en-US"/>
              <a:t> </a:t>
            </a:r>
            <a:r>
              <a:rPr lang="en-US" err="1"/>
              <a:t>động</a:t>
            </a:r>
            <a:r>
              <a:rPr lang="en-US"/>
              <a:t> </a:t>
            </a:r>
            <a:r>
              <a:rPr lang="en-US" err="1"/>
              <a:t>tính</a:t>
            </a:r>
            <a:r>
              <a:rPr lang="en-US"/>
              <a:t> </a:t>
            </a:r>
            <a:r>
              <a:rPr lang="en-US" err="1"/>
              <a:t>điểm</a:t>
            </a:r>
            <a:r>
              <a:rPr lang="en-US"/>
              <a:t> GPA </a:t>
            </a:r>
            <a:r>
              <a:rPr lang="en-US" err="1"/>
              <a:t>tích</a:t>
            </a:r>
            <a:r>
              <a:rPr lang="en-US"/>
              <a:t> </a:t>
            </a:r>
            <a:r>
              <a:rPr lang="en-US" err="1"/>
              <a:t>lũy</a:t>
            </a:r>
            <a:r>
              <a:rPr lang="en-US"/>
              <a:t>.</a:t>
            </a:r>
            <a:endParaRPr lang="en-US"/>
          </a:p>
          <a:p>
            <a:pPr lvl="1"/>
            <a:r>
              <a:rPr lang="en-US" b="1" err="1" smtClean="0"/>
              <a:t>Quản</a:t>
            </a:r>
            <a:r>
              <a:rPr lang="en-US" b="1" smtClean="0"/>
              <a:t> </a:t>
            </a:r>
            <a:r>
              <a:rPr lang="en-US" b="1" err="1"/>
              <a:t>lý</a:t>
            </a:r>
            <a:r>
              <a:rPr lang="en-US" b="1"/>
              <a:t> </a:t>
            </a:r>
            <a:r>
              <a:rPr lang="en-US" b="1" err="1" smtClean="0"/>
              <a:t>học</a:t>
            </a:r>
            <a:r>
              <a:rPr lang="en-US" b="1" smtClean="0"/>
              <a:t> </a:t>
            </a:r>
            <a:r>
              <a:rPr lang="en-US" b="1" err="1" smtClean="0"/>
              <a:t>phí</a:t>
            </a:r>
            <a:r>
              <a:rPr lang="en-US" b="1" smtClean="0"/>
              <a:t>:</a:t>
            </a:r>
            <a:r>
              <a:rPr lang="en-US" smtClean="0"/>
              <a:t> </a:t>
            </a:r>
            <a:r>
              <a:rPr lang="en-US" err="1"/>
              <a:t>Tra</a:t>
            </a:r>
            <a:r>
              <a:rPr lang="en-US"/>
              <a:t> </a:t>
            </a:r>
            <a:r>
              <a:rPr lang="en-US" err="1"/>
              <a:t>cứu</a:t>
            </a:r>
            <a:r>
              <a:rPr lang="en-US"/>
              <a:t> </a:t>
            </a:r>
            <a:r>
              <a:rPr lang="en-US" err="1"/>
              <a:t>công</a:t>
            </a:r>
            <a:r>
              <a:rPr lang="en-US"/>
              <a:t> </a:t>
            </a:r>
            <a:r>
              <a:rPr lang="en-US" err="1"/>
              <a:t>nợ</a:t>
            </a:r>
            <a:r>
              <a:rPr lang="en-US"/>
              <a:t>, </a:t>
            </a:r>
            <a:r>
              <a:rPr lang="en-US" err="1"/>
              <a:t>xem</a:t>
            </a:r>
            <a:r>
              <a:rPr lang="en-US"/>
              <a:t> chi </a:t>
            </a:r>
            <a:r>
              <a:rPr lang="en-US" err="1"/>
              <a:t>tiết</a:t>
            </a:r>
            <a:r>
              <a:rPr lang="en-US"/>
              <a:t> </a:t>
            </a:r>
            <a:r>
              <a:rPr lang="en-US" err="1"/>
              <a:t>học</a:t>
            </a:r>
            <a:r>
              <a:rPr lang="en-US"/>
              <a:t> </a:t>
            </a:r>
            <a:r>
              <a:rPr lang="en-US" err="1"/>
              <a:t>phí</a:t>
            </a:r>
            <a:r>
              <a:rPr lang="en-US"/>
              <a:t> </a:t>
            </a:r>
            <a:r>
              <a:rPr lang="en-US" err="1"/>
              <a:t>và</a:t>
            </a:r>
            <a:r>
              <a:rPr lang="en-US"/>
              <a:t> </a:t>
            </a:r>
            <a:r>
              <a:rPr lang="en-US" err="1"/>
              <a:t>thực</a:t>
            </a:r>
            <a:r>
              <a:rPr lang="en-US"/>
              <a:t> </a:t>
            </a:r>
            <a:r>
              <a:rPr lang="en-US" err="1"/>
              <a:t>hiện</a:t>
            </a:r>
            <a:r>
              <a:rPr lang="en-US"/>
              <a:t> </a:t>
            </a:r>
            <a:r>
              <a:rPr lang="en-US" err="1"/>
              <a:t>đóng</a:t>
            </a:r>
            <a:r>
              <a:rPr lang="en-US"/>
              <a:t> </a:t>
            </a:r>
            <a:r>
              <a:rPr lang="en-US" err="1"/>
              <a:t>tiền</a:t>
            </a:r>
            <a:r>
              <a:rPr lang="en-US"/>
              <a:t> </a:t>
            </a:r>
            <a:r>
              <a:rPr lang="en-US" err="1"/>
              <a:t>trực</a:t>
            </a:r>
            <a:r>
              <a:rPr lang="en-US"/>
              <a:t> </a:t>
            </a:r>
            <a:r>
              <a:rPr lang="en-US" err="1"/>
              <a:t>tuyến</a:t>
            </a:r>
            <a:r>
              <a:rPr lang="en-US"/>
              <a:t>.</a:t>
            </a:r>
            <a:endParaRPr lang="en-US"/>
          </a:p>
          <a:p>
            <a:pPr lvl="1"/>
            <a:endParaRPr lang="en-US" altLang="en-US"/>
          </a:p>
        </p:txBody>
      </p:sp>
      <p:sp>
        <p:nvSpPr>
          <p:cNvPr id="4" name="Text Box 5"/>
          <p:cNvSpPr txBox="1">
            <a:spLocks noChangeArrowheads="1"/>
          </p:cNvSpPr>
          <p:nvPr/>
        </p:nvSpPr>
        <p:spPr bwMode="auto">
          <a:xfrm>
            <a:off x="609600" y="6430963"/>
            <a:ext cx="3505200" cy="2746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 altLang="en-US" sz="1200" b="1" i="1" smtClean="0">
                <a:solidFill>
                  <a:srgbClr val="000066"/>
                </a:solidFill>
              </a:rPr>
              <a:t>motphutcantho.com</a:t>
            </a:r>
            <a:endParaRPr lang="en-US" altLang="en-US" sz="1200" b="1" i="1">
              <a:solidFill>
                <a:srgbClr val="000066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PHÂN CÔNG </a:t>
            </a:r>
            <a:r>
              <a:rPr lang="en-US" err="1"/>
              <a:t>CÔNG</a:t>
            </a:r>
            <a:r>
              <a:rPr lang="en-US"/>
              <a:t> </a:t>
            </a:r>
            <a:r>
              <a:rPr lang="en-US" smtClean="0"/>
              <a:t>VIỆC</a:t>
            </a:r>
            <a:endParaRPr lang="en-US" altLang="en-US"/>
          </a:p>
        </p:txBody>
      </p:sp>
      <p:sp>
        <p:nvSpPr>
          <p:cNvPr id="4" name="Text Box 5"/>
          <p:cNvSpPr txBox="1">
            <a:spLocks noChangeArrowheads="1"/>
          </p:cNvSpPr>
          <p:nvPr/>
        </p:nvSpPr>
        <p:spPr bwMode="auto">
          <a:xfrm>
            <a:off x="609600" y="6430963"/>
            <a:ext cx="3505200" cy="2746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 altLang="en-US" sz="1200" b="1" i="1" smtClean="0">
                <a:solidFill>
                  <a:srgbClr val="000066"/>
                </a:solidFill>
              </a:rPr>
              <a:t>motphutcantho.com</a:t>
            </a:r>
            <a:endParaRPr lang="en-US" altLang="en-US" sz="1200" b="1" i="1">
              <a:solidFill>
                <a:srgbClr val="000066"/>
              </a:solidFill>
            </a:endParaRPr>
          </a:p>
        </p:txBody>
      </p:sp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304800" y="2057400"/>
          <a:ext cx="8229600" cy="393042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819400"/>
                <a:gridCol w="3124200"/>
              </a:tblGrid>
              <a:tr h="76200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sz="2000" b="1" kern="1200" err="1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Sinh</a:t>
                      </a:r>
                      <a:r>
                        <a:rPr lang="en-US" sz="2000" b="1" kern="120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2000" b="1" kern="1200" err="1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viên</a:t>
                      </a:r>
                      <a:endParaRPr lang="en-US" sz="2000" b="1" kern="1200" smtClean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sz="2000" b="1" kern="1200" err="1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Nhiệm</a:t>
                      </a:r>
                      <a:r>
                        <a:rPr lang="en-US" sz="2000" b="1" kern="120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2000" b="1" kern="1200" err="1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vụ</a:t>
                      </a:r>
                      <a:r>
                        <a:rPr lang="en-US" sz="2000" b="1" kern="120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2000" b="1" kern="1200" err="1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chính</a:t>
                      </a:r>
                      <a:r>
                        <a:rPr lang="en-US" sz="2000" b="1" kern="120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endParaRPr lang="en-US" sz="2000" b="1" kern="1200" smtClean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sz="2000" b="1" kern="1200" err="1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Kỹ</a:t>
                      </a:r>
                      <a:r>
                        <a:rPr lang="en-US" sz="2000" b="1" kern="120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2000" b="1" kern="1200" err="1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thuật</a:t>
                      </a:r>
                      <a:r>
                        <a:rPr lang="en-US" sz="2000" b="1" kern="120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SQL </a:t>
                      </a:r>
                      <a:r>
                        <a:rPr lang="en-US" sz="2000" b="1" kern="1200" err="1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phụ</a:t>
                      </a:r>
                      <a:r>
                        <a:rPr lang="en-US" sz="2000" b="1" kern="120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2000" b="1" kern="1200" err="1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trách</a:t>
                      </a:r>
                      <a:endParaRPr lang="en-US" sz="2000" b="1" kern="1200" smtClean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</a:tr>
              <a:tr h="1431063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sz="2000" b="0" i="0" kern="1200" err="1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Lê</a:t>
                      </a:r>
                      <a:r>
                        <a:rPr lang="en-US" sz="2000" b="0" i="0" kern="120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2000" b="0" i="0" kern="1200" err="1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Hoàng</a:t>
                      </a:r>
                      <a:r>
                        <a:rPr lang="en-US" sz="2000" b="0" i="0" kern="120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Nguyên</a:t>
                      </a:r>
                      <a:endParaRPr lang="en-US" sz="2000" b="0" i="0" kern="1200" smtClean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algn="l"/>
                      <a:endParaRPr lang="en-US" sz="2000" b="0" i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vi-VN" sz="1800" b="0" kern="120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Xây dựng hệ thống khung, Quản lý danh mục, Hồ sơ nhân sự và nghiệp vụ Giảng viên.</a:t>
                      </a:r>
                      <a:endParaRPr lang="vi-VN" sz="1800" b="0" kern="1200" smtClean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vi-VN" sz="1800" b="0" kern="120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CRUD, Stored Procedure báo cáo đào tạo, Hệ thống Menu điều hướng, Bảo mật đăng nhập.</a:t>
                      </a:r>
                      <a:endParaRPr lang="vi-VN" sz="1800" b="0" kern="1200" smtClean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</a:tr>
              <a:tr h="1431063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sz="2000" b="0" i="0" kern="1200" err="1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Trịnh</a:t>
                      </a:r>
                      <a:r>
                        <a:rPr lang="en-US" sz="2000" b="0" i="0" kern="120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Minh </a:t>
                      </a:r>
                      <a:r>
                        <a:rPr lang="en-US" sz="2000" b="0" i="0" kern="1200" err="1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Vĩ</a:t>
                      </a:r>
                      <a:endParaRPr lang="en-US" sz="2000" b="0" i="0" kern="1200" smtClean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algn="l"/>
                      <a:endParaRPr lang="en-US" sz="2000" b="0" i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vi-VN" sz="1800" b="0" kern="120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Xây dựng hệ thống khung, </a:t>
                      </a:r>
                      <a:r>
                        <a:rPr lang="en-US" sz="1800" b="0" kern="120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Xử </a:t>
                      </a:r>
                      <a:r>
                        <a:rPr lang="en-US" sz="1800" b="0" kern="1200" err="1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lý</a:t>
                      </a:r>
                      <a:r>
                        <a:rPr lang="en-US" sz="1800" b="0" kern="120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1800" b="0" kern="1200" err="1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các</a:t>
                      </a:r>
                      <a:r>
                        <a:rPr lang="en-US" sz="1800" b="0" kern="120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1800" b="0" kern="1200" err="1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nghiệp</a:t>
                      </a:r>
                      <a:r>
                        <a:rPr lang="en-US" sz="1800" b="0" kern="120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1800" b="0" kern="1200" err="1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vụ</a:t>
                      </a:r>
                      <a:r>
                        <a:rPr lang="en-US" sz="1800" b="0" kern="120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1800" b="0" kern="1200" err="1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Tài</a:t>
                      </a:r>
                      <a:r>
                        <a:rPr lang="en-US" sz="1800" b="0" kern="120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1800" b="0" kern="1200" err="1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chính</a:t>
                      </a:r>
                      <a:r>
                        <a:rPr lang="en-US" sz="1800" b="0" kern="120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1800" b="0" kern="1200" err="1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và</a:t>
                      </a:r>
                      <a:r>
                        <a:rPr lang="en-US" sz="1800" b="0" kern="120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1800" b="0" kern="1200" err="1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Đăng</a:t>
                      </a:r>
                      <a:r>
                        <a:rPr lang="en-US" sz="1800" b="0" kern="120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1800" b="0" kern="1200" err="1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ký</a:t>
                      </a:r>
                      <a:r>
                        <a:rPr lang="en-US" sz="1800" b="0" kern="120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1800" b="0" kern="1200" err="1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học</a:t>
                      </a:r>
                      <a:r>
                        <a:rPr lang="en-US" sz="1800" b="0" kern="120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1800" b="0" kern="1200" err="1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vụ</a:t>
                      </a:r>
                      <a:r>
                        <a:rPr lang="en-US" sz="1800" b="0" kern="120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. </a:t>
                      </a:r>
                      <a:r>
                        <a:rPr lang="en-US" sz="1800" b="0" kern="1200" err="1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Triển</a:t>
                      </a:r>
                      <a:r>
                        <a:rPr lang="en-US" sz="1800" b="0" kern="120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1800" b="0" kern="1200" err="1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khai</a:t>
                      </a:r>
                      <a:r>
                        <a:rPr lang="en-US" sz="1800" b="0" kern="120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logic </a:t>
                      </a:r>
                      <a:r>
                        <a:rPr lang="en-US" sz="1800" b="0" kern="1200" err="1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luồng</a:t>
                      </a:r>
                      <a:r>
                        <a:rPr lang="en-US" sz="1800" b="0" kern="120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1800" b="0" kern="1200" err="1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tiền</a:t>
                      </a:r>
                      <a:r>
                        <a:rPr lang="en-US" sz="1800" b="0" kern="120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1800" b="0" kern="1200" err="1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bạc</a:t>
                      </a:r>
                      <a:r>
                        <a:rPr lang="en-US" sz="1800" b="0" kern="120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.</a:t>
                      </a:r>
                      <a:endParaRPr lang="en-US" sz="1800" b="0" kern="1200" smtClean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sz="1800" b="0" kern="120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Transaction (Đăng ký, Đóng tiền), Stored Function (GPA, Công nợ), Procedure tài chính.</a:t>
                      </a:r>
                      <a:endParaRPr lang="en-US" sz="1800" b="0" kern="1200" smtClean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vi-VN"/>
              <a:t>THIẾT KẾ CƠ SỞ </a:t>
            </a:r>
            <a:r>
              <a:rPr lang="vi-VN"/>
              <a:t>DỮ </a:t>
            </a:r>
            <a:r>
              <a:rPr lang="vi-VN" smtClean="0"/>
              <a:t>LIỆU</a:t>
            </a:r>
            <a:endParaRPr lang="en-US" altLang="en-US"/>
          </a:p>
        </p:txBody>
      </p:sp>
      <p:sp>
        <p:nvSpPr>
          <p:cNvPr id="25603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762000" y="1633538"/>
            <a:ext cx="8077200" cy="4767262"/>
          </a:xfrm>
        </p:spPr>
        <p:txBody>
          <a:bodyPr/>
          <a:lstStyle/>
          <a:p>
            <a:endParaRPr lang="en-US" altLang="en-US"/>
          </a:p>
        </p:txBody>
      </p:sp>
      <p:sp>
        <p:nvSpPr>
          <p:cNvPr id="4" name="Text Box 5"/>
          <p:cNvSpPr txBox="1">
            <a:spLocks noChangeArrowheads="1"/>
          </p:cNvSpPr>
          <p:nvPr/>
        </p:nvSpPr>
        <p:spPr bwMode="auto">
          <a:xfrm>
            <a:off x="609600" y="6430963"/>
            <a:ext cx="3505200" cy="2746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 altLang="en-US" sz="1200" b="1" i="1" smtClean="0">
                <a:solidFill>
                  <a:srgbClr val="000066"/>
                </a:solidFill>
              </a:rPr>
              <a:t>motphutcantho.com</a:t>
            </a:r>
            <a:endParaRPr lang="en-US" altLang="en-US" sz="1200" b="1" i="1">
              <a:solidFill>
                <a:srgbClr val="000066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STORED </a:t>
            </a:r>
            <a:r>
              <a:rPr lang="en-US" smtClean="0"/>
              <a:t>OBJECTS &amp; LOGIC</a:t>
            </a:r>
            <a:endParaRPr lang="en-US" altLang="en-US"/>
          </a:p>
        </p:txBody>
      </p:sp>
      <p:sp>
        <p:nvSpPr>
          <p:cNvPr id="25603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762000" y="1633538"/>
            <a:ext cx="8077200" cy="4767262"/>
          </a:xfrm>
        </p:spPr>
        <p:txBody>
          <a:bodyPr/>
          <a:lstStyle/>
          <a:p>
            <a:r>
              <a:rPr lang="vi-VN" b="1"/>
              <a:t>Giao dịch (Transactions) - Xử lý Backend Java:</a:t>
            </a:r>
            <a:endParaRPr lang="vi-VN"/>
          </a:p>
          <a:p>
            <a:pPr lvl="1"/>
            <a:r>
              <a:rPr lang="vi-VN" b="1" smtClean="0"/>
              <a:t>Transaction </a:t>
            </a:r>
            <a:r>
              <a:rPr lang="vi-VN" b="1"/>
              <a:t>Đăng ký học </a:t>
            </a:r>
            <a:r>
              <a:rPr lang="vi-VN" b="1"/>
              <a:t>phần</a:t>
            </a:r>
            <a:r>
              <a:rPr lang="vi-VN" b="1" smtClean="0"/>
              <a:t>:</a:t>
            </a:r>
            <a:r>
              <a:rPr lang="vi-VN" smtClean="0"/>
              <a:t> </a:t>
            </a:r>
            <a:r>
              <a:rPr lang="vi-VN"/>
              <a:t>Thực hiện kiểm tra sĩ số lớp -&gt; INSERT bảng DIEM -&gt; Cập nhật tiền nợ. Nếu một bước lỗi, hệ thống sẽ `Rollback` để tránh dữ liệu ảo.</a:t>
            </a:r>
            <a:endParaRPr lang="vi-VN"/>
          </a:p>
          <a:p>
            <a:pPr lvl="1"/>
            <a:r>
              <a:rPr lang="vi-VN" b="1" smtClean="0"/>
              <a:t>Transaction </a:t>
            </a:r>
            <a:r>
              <a:rPr lang="vi-VN" b="1"/>
              <a:t>Đóng tiền học </a:t>
            </a:r>
            <a:r>
              <a:rPr lang="vi-VN" b="1"/>
              <a:t>phí</a:t>
            </a:r>
            <a:r>
              <a:rPr lang="vi-VN" b="1" smtClean="0"/>
              <a:t>:</a:t>
            </a:r>
            <a:r>
              <a:rPr lang="vi-VN" smtClean="0"/>
              <a:t> </a:t>
            </a:r>
            <a:r>
              <a:rPr lang="vi-VN"/>
              <a:t>Ghi dữ liệu vào bảng `PHIEU_THU` -&gt; Cập nhật số tiền `DaDong` trong bảng `HOC_PHI`. Đảm bảo tính nhất quán của số dư.</a:t>
            </a:r>
            <a:endParaRPr lang="vi-VN"/>
          </a:p>
          <a:p>
            <a:endParaRPr lang="en-US" altLang="en-US"/>
          </a:p>
        </p:txBody>
      </p:sp>
      <p:sp>
        <p:nvSpPr>
          <p:cNvPr id="4" name="Text Box 5"/>
          <p:cNvSpPr txBox="1">
            <a:spLocks noChangeArrowheads="1"/>
          </p:cNvSpPr>
          <p:nvPr/>
        </p:nvSpPr>
        <p:spPr bwMode="auto">
          <a:xfrm>
            <a:off x="609600" y="6430963"/>
            <a:ext cx="3505200" cy="2746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 altLang="en-US" sz="1200" b="1" i="1" smtClean="0">
                <a:solidFill>
                  <a:srgbClr val="000066"/>
                </a:solidFill>
              </a:rPr>
              <a:t>motphutcantho.com</a:t>
            </a:r>
            <a:endParaRPr lang="en-US" altLang="en-US" sz="1200" b="1" i="1">
              <a:solidFill>
                <a:srgbClr val="000066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STORED OBJECTS &amp; LOGIC</a:t>
            </a:r>
            <a:endParaRPr lang="en-US" altLang="en-US"/>
          </a:p>
        </p:txBody>
      </p:sp>
      <p:sp>
        <p:nvSpPr>
          <p:cNvPr id="25603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762000" y="1633538"/>
            <a:ext cx="8077200" cy="4767262"/>
          </a:xfrm>
        </p:spPr>
        <p:txBody>
          <a:bodyPr/>
          <a:lstStyle/>
          <a:p>
            <a:r>
              <a:rPr lang="vi-VN" b="1"/>
              <a:t>Thủ tục lưu trữ (Stored Procedures):</a:t>
            </a:r>
            <a:endParaRPr lang="vi-VN"/>
          </a:p>
          <a:p>
            <a:pPr lvl="1"/>
            <a:r>
              <a:rPr lang="vi-VN" smtClean="0"/>
              <a:t>`</a:t>
            </a:r>
            <a:r>
              <a:rPr lang="vi-VN"/>
              <a:t>sp_BaoCaoDoanhThuHocPhi`: Sử dụng `SUM`, `JOIN` và `GROUP BY` để thống kê tiền học phí thực thu theo từng Khoa.</a:t>
            </a:r>
            <a:endParaRPr lang="vi-VN"/>
          </a:p>
          <a:p>
            <a:pPr lvl="1"/>
            <a:r>
              <a:rPr lang="vi-VN" smtClean="0"/>
              <a:t>`</a:t>
            </a:r>
            <a:r>
              <a:rPr lang="vi-VN"/>
              <a:t>sp_BaoCaoChatLuong_LHP`: Tính toán tỷ lệ phần trăm Đậu/Rớt và tìm điểm cao nhất của một lớp.</a:t>
            </a:r>
            <a:endParaRPr lang="vi-VN"/>
          </a:p>
          <a:p>
            <a:pPr lvl="1"/>
            <a:r>
              <a:rPr lang="vi-VN" smtClean="0"/>
              <a:t>`</a:t>
            </a:r>
            <a:r>
              <a:rPr lang="vi-VN"/>
              <a:t>sp_ThongKeSVNoHocPhi`: Lọc danh sách sinh viên chưa hoàn thành học phí trong kỳ để gửi thông báo.</a:t>
            </a:r>
            <a:endParaRPr lang="vi-VN"/>
          </a:p>
          <a:p>
            <a:endParaRPr lang="en-US" altLang="en-US"/>
          </a:p>
        </p:txBody>
      </p:sp>
      <p:sp>
        <p:nvSpPr>
          <p:cNvPr id="4" name="Text Box 5"/>
          <p:cNvSpPr txBox="1">
            <a:spLocks noChangeArrowheads="1"/>
          </p:cNvSpPr>
          <p:nvPr/>
        </p:nvSpPr>
        <p:spPr bwMode="auto">
          <a:xfrm>
            <a:off x="609600" y="6430963"/>
            <a:ext cx="3505200" cy="2746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 altLang="en-US" sz="1200" b="1" i="1" smtClean="0">
                <a:solidFill>
                  <a:srgbClr val="000066"/>
                </a:solidFill>
              </a:rPr>
              <a:t>motphutcantho.com</a:t>
            </a:r>
            <a:endParaRPr lang="en-US" altLang="en-US" sz="1200" b="1" i="1">
              <a:solidFill>
                <a:srgbClr val="000066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/>
          <p:cNvSpPr>
            <a:spLocks noGrp="1" noChangeArrowheads="1"/>
          </p:cNvSpPr>
          <p:nvPr>
            <p:ph type="title"/>
          </p:nvPr>
        </p:nvSpPr>
        <p:spPr>
          <a:xfrm>
            <a:off x="1752600" y="282575"/>
            <a:ext cx="6858000" cy="944563"/>
          </a:xfrm>
        </p:spPr>
        <p:txBody>
          <a:bodyPr/>
          <a:lstStyle/>
          <a:p>
            <a:r>
              <a:rPr lang="en-US"/>
              <a:t>STORED OBJECTS &amp; LOGIC</a:t>
            </a:r>
            <a:endParaRPr lang="en-US" b="0"/>
          </a:p>
        </p:txBody>
      </p:sp>
      <p:sp>
        <p:nvSpPr>
          <p:cNvPr id="25603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762000" y="1633538"/>
            <a:ext cx="8077200" cy="4767262"/>
          </a:xfrm>
        </p:spPr>
        <p:txBody>
          <a:bodyPr/>
          <a:lstStyle/>
          <a:p>
            <a:r>
              <a:rPr lang="en-US" b="1"/>
              <a:t>Hàm tự định nghĩa (Stored Functions):</a:t>
            </a:r>
            <a:endParaRPr lang="en-US"/>
          </a:p>
          <a:p>
            <a:pPr lvl="1"/>
            <a:r>
              <a:rPr lang="en-US" smtClean="0"/>
              <a:t>`</a:t>
            </a:r>
            <a:r>
              <a:rPr lang="en-US"/>
              <a:t>func_TinhGPA(mssv)`: Duyệt qua bảng điểm, tính trung bình có trọng số theo số tín chỉ của từng môn học.</a:t>
            </a:r>
            <a:endParaRPr lang="en-US"/>
          </a:p>
          <a:p>
            <a:pPr lvl="1"/>
            <a:r>
              <a:rPr lang="en-US" smtClean="0"/>
              <a:t>`func_TinhTienNo(mssv</a:t>
            </a:r>
            <a:r>
              <a:rPr lang="en-US"/>
              <a:t>, maHK)`: Trả về kết quả (Tổng phải nộp - Tổng đã đóng) cho một sinh viên cụ thể.</a:t>
            </a:r>
            <a:endParaRPr lang="en-US"/>
          </a:p>
          <a:p>
            <a:endParaRPr lang="en-US" altLang="en-US"/>
          </a:p>
        </p:txBody>
      </p:sp>
      <p:sp>
        <p:nvSpPr>
          <p:cNvPr id="4" name="Text Box 5"/>
          <p:cNvSpPr txBox="1">
            <a:spLocks noChangeArrowheads="1"/>
          </p:cNvSpPr>
          <p:nvPr/>
        </p:nvSpPr>
        <p:spPr bwMode="auto">
          <a:xfrm>
            <a:off x="609600" y="6430963"/>
            <a:ext cx="3505200" cy="2746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 altLang="en-US" sz="1200" b="1" i="1" smtClean="0">
                <a:solidFill>
                  <a:srgbClr val="000066"/>
                </a:solidFill>
              </a:rPr>
              <a:t>motphutcantho.com</a:t>
            </a:r>
            <a:endParaRPr lang="en-US" altLang="en-US" sz="1200" b="1" i="1">
              <a:solidFill>
                <a:srgbClr val="000066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STORED OBJECTS &amp; LOGIC</a:t>
            </a:r>
            <a:endParaRPr lang="en-US" altLang="en-US"/>
          </a:p>
        </p:txBody>
      </p:sp>
      <p:sp>
        <p:nvSpPr>
          <p:cNvPr id="25603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762000" y="1633538"/>
            <a:ext cx="8077200" cy="4767262"/>
          </a:xfrm>
        </p:spPr>
        <p:txBody>
          <a:bodyPr/>
          <a:lstStyle/>
          <a:p>
            <a:r>
              <a:rPr lang="vi-VN" b="1"/>
              <a:t>Trình kích hoạt (Triggers):</a:t>
            </a:r>
            <a:endParaRPr lang="vi-VN"/>
          </a:p>
          <a:p>
            <a:pPr lvl="1"/>
            <a:r>
              <a:rPr lang="vi-VN" smtClean="0"/>
              <a:t>`</a:t>
            </a:r>
            <a:r>
              <a:rPr lang="vi-VN"/>
              <a:t>trg_CapNhatHocPhi`: Tự động tính toán số tiền học phí phát sinh ngay khi sinh viên đăng ký môn học (Số tín chỉ * Đơn giá) và cộng vào bảng `HOC_PHI`</a:t>
            </a:r>
            <a:endParaRPr lang="vi-VN"/>
          </a:p>
          <a:p>
            <a:endParaRPr lang="en-US" altLang="en-US"/>
          </a:p>
        </p:txBody>
      </p:sp>
      <p:sp>
        <p:nvSpPr>
          <p:cNvPr id="4" name="Text Box 5"/>
          <p:cNvSpPr txBox="1">
            <a:spLocks noChangeArrowheads="1"/>
          </p:cNvSpPr>
          <p:nvPr/>
        </p:nvSpPr>
        <p:spPr bwMode="auto">
          <a:xfrm>
            <a:off x="609600" y="6430963"/>
            <a:ext cx="3505200" cy="2746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 altLang="en-US" sz="1200" b="1" i="1" smtClean="0">
                <a:solidFill>
                  <a:srgbClr val="000066"/>
                </a:solidFill>
              </a:rPr>
              <a:t>motphutcantho.com</a:t>
            </a:r>
            <a:endParaRPr lang="en-US" altLang="en-US" sz="1200" b="1" i="1">
              <a:solidFill>
                <a:srgbClr val="000066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endParaRPr lang="en-US" altLang="en-US"/>
          </a:p>
        </p:txBody>
      </p:sp>
      <p:sp>
        <p:nvSpPr>
          <p:cNvPr id="25603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762000" y="1633538"/>
            <a:ext cx="8077200" cy="4767262"/>
          </a:xfrm>
        </p:spPr>
        <p:txBody>
          <a:bodyPr/>
          <a:lstStyle/>
          <a:p>
            <a:endParaRPr lang="en-US" altLang="en-US"/>
          </a:p>
        </p:txBody>
      </p:sp>
      <p:sp>
        <p:nvSpPr>
          <p:cNvPr id="4" name="Text Box 5"/>
          <p:cNvSpPr txBox="1">
            <a:spLocks noChangeArrowheads="1"/>
          </p:cNvSpPr>
          <p:nvPr/>
        </p:nvSpPr>
        <p:spPr bwMode="auto">
          <a:xfrm>
            <a:off x="609600" y="6430963"/>
            <a:ext cx="3505200" cy="2746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 altLang="en-US" sz="1200" b="1" i="1" smtClean="0">
                <a:solidFill>
                  <a:srgbClr val="000066"/>
                </a:solidFill>
              </a:rPr>
              <a:t>motphutcantho.com</a:t>
            </a:r>
            <a:endParaRPr lang="en-US" altLang="en-US" sz="1200" b="1" i="1">
              <a:solidFill>
                <a:srgbClr val="000066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endParaRPr lang="en-US" altLang="en-US"/>
          </a:p>
        </p:txBody>
      </p:sp>
      <p:sp>
        <p:nvSpPr>
          <p:cNvPr id="25603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762000" y="1633538"/>
            <a:ext cx="8077200" cy="4767262"/>
          </a:xfrm>
        </p:spPr>
        <p:txBody>
          <a:bodyPr/>
          <a:lstStyle/>
          <a:p>
            <a:endParaRPr lang="en-US" altLang="en-US"/>
          </a:p>
        </p:txBody>
      </p:sp>
      <p:sp>
        <p:nvSpPr>
          <p:cNvPr id="4" name="Text Box 5"/>
          <p:cNvSpPr txBox="1">
            <a:spLocks noChangeArrowheads="1"/>
          </p:cNvSpPr>
          <p:nvPr/>
        </p:nvSpPr>
        <p:spPr bwMode="auto">
          <a:xfrm>
            <a:off x="609600" y="6430963"/>
            <a:ext cx="3505200" cy="2746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 altLang="en-US" sz="1200" b="1" i="1" smtClean="0">
                <a:solidFill>
                  <a:srgbClr val="000066"/>
                </a:solidFill>
              </a:rPr>
              <a:t>motphutcantho.com</a:t>
            </a:r>
            <a:endParaRPr lang="en-US" altLang="en-US" sz="1200" b="1" i="1">
              <a:solidFill>
                <a:srgbClr val="000066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endParaRPr lang="en-US" altLang="en-US"/>
          </a:p>
        </p:txBody>
      </p:sp>
      <p:sp>
        <p:nvSpPr>
          <p:cNvPr id="25603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762000" y="1633538"/>
            <a:ext cx="8077200" cy="4767262"/>
          </a:xfrm>
        </p:spPr>
        <p:txBody>
          <a:bodyPr/>
          <a:lstStyle/>
          <a:p>
            <a:endParaRPr lang="en-US" altLang="en-US"/>
          </a:p>
        </p:txBody>
      </p:sp>
      <p:sp>
        <p:nvSpPr>
          <p:cNvPr id="4" name="Text Box 5"/>
          <p:cNvSpPr txBox="1">
            <a:spLocks noChangeArrowheads="1"/>
          </p:cNvSpPr>
          <p:nvPr/>
        </p:nvSpPr>
        <p:spPr bwMode="auto">
          <a:xfrm>
            <a:off x="609600" y="6430963"/>
            <a:ext cx="3505200" cy="2746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 altLang="en-US" sz="1200" b="1" i="1" smtClean="0">
                <a:solidFill>
                  <a:srgbClr val="000066"/>
                </a:solidFill>
              </a:rPr>
              <a:t>motphutcantho.com</a:t>
            </a:r>
            <a:endParaRPr lang="en-US" altLang="en-US" sz="1200" b="1" i="1">
              <a:solidFill>
                <a:srgbClr val="000066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endParaRPr lang="en-US" altLang="en-US"/>
          </a:p>
        </p:txBody>
      </p:sp>
      <p:sp>
        <p:nvSpPr>
          <p:cNvPr id="25603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762000" y="1633538"/>
            <a:ext cx="8077200" cy="4767262"/>
          </a:xfrm>
        </p:spPr>
        <p:txBody>
          <a:bodyPr/>
          <a:lstStyle/>
          <a:p>
            <a:endParaRPr lang="en-US" altLang="en-US"/>
          </a:p>
        </p:txBody>
      </p:sp>
      <p:sp>
        <p:nvSpPr>
          <p:cNvPr id="4" name="Text Box 5"/>
          <p:cNvSpPr txBox="1">
            <a:spLocks noChangeArrowheads="1"/>
          </p:cNvSpPr>
          <p:nvPr/>
        </p:nvSpPr>
        <p:spPr bwMode="auto">
          <a:xfrm>
            <a:off x="609600" y="6430963"/>
            <a:ext cx="3505200" cy="2746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 altLang="en-US" sz="1200" b="1" i="1" smtClean="0">
                <a:solidFill>
                  <a:srgbClr val="000066"/>
                </a:solidFill>
              </a:rPr>
              <a:t>motphutcantho.com</a:t>
            </a:r>
            <a:endParaRPr lang="en-US" altLang="en-US" sz="1200" b="1" i="1">
              <a:solidFill>
                <a:srgbClr val="000066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endParaRPr lang="en-US" altLang="en-US"/>
          </a:p>
        </p:txBody>
      </p:sp>
      <p:sp>
        <p:nvSpPr>
          <p:cNvPr id="25603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762000" y="1633538"/>
            <a:ext cx="8077200" cy="4767262"/>
          </a:xfrm>
        </p:spPr>
        <p:txBody>
          <a:bodyPr/>
          <a:lstStyle/>
          <a:p>
            <a:endParaRPr lang="en-US" altLang="en-US"/>
          </a:p>
        </p:txBody>
      </p:sp>
      <p:sp>
        <p:nvSpPr>
          <p:cNvPr id="4" name="Text Box 5"/>
          <p:cNvSpPr txBox="1">
            <a:spLocks noChangeArrowheads="1"/>
          </p:cNvSpPr>
          <p:nvPr/>
        </p:nvSpPr>
        <p:spPr bwMode="auto">
          <a:xfrm>
            <a:off x="609600" y="6430963"/>
            <a:ext cx="3505200" cy="2746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 altLang="en-US" sz="1200" b="1" i="1" smtClean="0">
                <a:solidFill>
                  <a:srgbClr val="000066"/>
                </a:solidFill>
              </a:rPr>
              <a:t>motphutcantho.com</a:t>
            </a:r>
            <a:endParaRPr lang="en-US" altLang="en-US" sz="1200" b="1" i="1">
              <a:solidFill>
                <a:srgbClr val="000066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endParaRPr lang="en-US" altLang="en-US"/>
          </a:p>
        </p:txBody>
      </p:sp>
      <p:sp>
        <p:nvSpPr>
          <p:cNvPr id="25603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762000" y="1633538"/>
            <a:ext cx="8077200" cy="4767262"/>
          </a:xfrm>
        </p:spPr>
        <p:txBody>
          <a:bodyPr/>
          <a:lstStyle/>
          <a:p>
            <a:endParaRPr lang="en-US" altLang="en-US"/>
          </a:p>
        </p:txBody>
      </p:sp>
      <p:sp>
        <p:nvSpPr>
          <p:cNvPr id="4" name="Text Box 5"/>
          <p:cNvSpPr txBox="1">
            <a:spLocks noChangeArrowheads="1"/>
          </p:cNvSpPr>
          <p:nvPr/>
        </p:nvSpPr>
        <p:spPr bwMode="auto">
          <a:xfrm>
            <a:off x="609600" y="6430963"/>
            <a:ext cx="3505200" cy="2746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 altLang="en-US" sz="1200" b="1" i="1" smtClean="0">
                <a:solidFill>
                  <a:srgbClr val="000066"/>
                </a:solidFill>
              </a:rPr>
              <a:t>motphutcantho.com</a:t>
            </a:r>
            <a:endParaRPr lang="en-US" altLang="en-US" sz="1200" b="1" i="1">
              <a:solidFill>
                <a:srgbClr val="000066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endParaRPr lang="en-US" altLang="en-US"/>
          </a:p>
        </p:txBody>
      </p:sp>
      <p:sp>
        <p:nvSpPr>
          <p:cNvPr id="25603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762000" y="1633538"/>
            <a:ext cx="8077200" cy="4767262"/>
          </a:xfrm>
        </p:spPr>
        <p:txBody>
          <a:bodyPr/>
          <a:lstStyle/>
          <a:p>
            <a:endParaRPr lang="en-US" altLang="en-US"/>
          </a:p>
        </p:txBody>
      </p:sp>
      <p:sp>
        <p:nvSpPr>
          <p:cNvPr id="4" name="Text Box 5"/>
          <p:cNvSpPr txBox="1">
            <a:spLocks noChangeArrowheads="1"/>
          </p:cNvSpPr>
          <p:nvPr/>
        </p:nvSpPr>
        <p:spPr bwMode="auto">
          <a:xfrm>
            <a:off x="609600" y="6430963"/>
            <a:ext cx="3505200" cy="2746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 altLang="en-US" sz="1200" b="1" i="1" smtClean="0">
                <a:solidFill>
                  <a:srgbClr val="000066"/>
                </a:solidFill>
              </a:rPr>
              <a:t>motphutcantho.com</a:t>
            </a:r>
            <a:endParaRPr lang="en-US" altLang="en-US" sz="1200" b="1" i="1">
              <a:solidFill>
                <a:srgbClr val="000066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endParaRPr lang="en-US" altLang="en-US"/>
          </a:p>
        </p:txBody>
      </p:sp>
      <p:sp>
        <p:nvSpPr>
          <p:cNvPr id="25603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762000" y="1633538"/>
            <a:ext cx="8077200" cy="4767262"/>
          </a:xfrm>
        </p:spPr>
        <p:txBody>
          <a:bodyPr/>
          <a:lstStyle/>
          <a:p>
            <a:endParaRPr lang="en-US" altLang="en-US"/>
          </a:p>
        </p:txBody>
      </p:sp>
      <p:sp>
        <p:nvSpPr>
          <p:cNvPr id="4" name="Text Box 5"/>
          <p:cNvSpPr txBox="1">
            <a:spLocks noChangeArrowheads="1"/>
          </p:cNvSpPr>
          <p:nvPr/>
        </p:nvSpPr>
        <p:spPr bwMode="auto">
          <a:xfrm>
            <a:off x="609600" y="6430963"/>
            <a:ext cx="3505200" cy="2746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 altLang="en-US" sz="1200" b="1" i="1" smtClean="0">
                <a:solidFill>
                  <a:srgbClr val="000066"/>
                </a:solidFill>
              </a:rPr>
              <a:t>motphutcantho.com</a:t>
            </a:r>
            <a:endParaRPr lang="en-US" altLang="en-US" sz="1200" b="1" i="1">
              <a:solidFill>
                <a:srgbClr val="000066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0">
          <a:blip r:embed="rId1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609600" y="2373313"/>
            <a:ext cx="7924800" cy="2555875"/>
          </a:xfrm>
        </p:spPr>
        <p:txBody>
          <a:bodyPr/>
          <a:lstStyle/>
          <a:p>
            <a:pPr algn="ctr">
              <a:buFontTx/>
              <a:buNone/>
            </a:pPr>
            <a:endParaRPr lang="en-US" altLang="en-US"/>
          </a:p>
        </p:txBody>
      </p:sp>
      <p:sp>
        <p:nvSpPr>
          <p:cNvPr id="3" name="Text Box 5"/>
          <p:cNvSpPr txBox="1">
            <a:spLocks noChangeArrowheads="1"/>
          </p:cNvSpPr>
          <p:nvPr/>
        </p:nvSpPr>
        <p:spPr bwMode="auto">
          <a:xfrm>
            <a:off x="609600" y="6430963"/>
            <a:ext cx="3505200" cy="2746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 altLang="en-US" sz="1200" b="1" i="1" smtClean="0">
                <a:solidFill>
                  <a:srgbClr val="000066"/>
                </a:solidFill>
              </a:rPr>
              <a:t>motphutcantho.com</a:t>
            </a:r>
            <a:endParaRPr lang="en-US" altLang="en-US" sz="1200" b="1" i="1">
              <a:solidFill>
                <a:srgbClr val="000066"/>
              </a:solidFill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315507" y="2133600"/>
            <a:ext cx="8345553" cy="235449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 b="1" smtClean="0"/>
              <a:t>NHÓM GIAO LƯU SINH VIÊN, CỰU SINH VIÊN</a:t>
            </a:r>
            <a:endParaRPr lang="en-US" sz="2000" b="1" smtClean="0"/>
          </a:p>
          <a:p>
            <a:pPr algn="ctr"/>
            <a:endParaRPr lang="en-US" sz="2000" b="1" smtClean="0"/>
          </a:p>
          <a:p>
            <a:pPr algn="ctr"/>
            <a:r>
              <a:rPr lang="en-US" sz="2200" b="1" smtClean="0">
                <a:solidFill>
                  <a:srgbClr val="FF0000"/>
                </a:solidFill>
              </a:rPr>
              <a:t>CTU – CỘNG ĐỒNG SINH VIÊN TRƯỜNG ĐẠI HỌC CẦN THƠ</a:t>
            </a:r>
            <a:endParaRPr lang="en-US" sz="2200" b="1" smtClean="0">
              <a:solidFill>
                <a:srgbClr val="FF0000"/>
              </a:solidFill>
            </a:endParaRPr>
          </a:p>
          <a:p>
            <a:pPr algn="ctr"/>
            <a:endParaRPr lang="en-US" sz="2000" b="1" smtClean="0">
              <a:solidFill>
                <a:srgbClr val="FF0000"/>
              </a:solidFill>
            </a:endParaRPr>
          </a:p>
          <a:p>
            <a:pPr algn="ctr"/>
            <a:endParaRPr lang="en-US" sz="2000" b="1" smtClean="0">
              <a:solidFill>
                <a:srgbClr val="FF0000"/>
              </a:solidFill>
            </a:endParaRPr>
          </a:p>
          <a:p>
            <a:pPr algn="ctr"/>
            <a:endParaRPr lang="en-US" sz="2000" b="1">
              <a:solidFill>
                <a:srgbClr val="FF0000"/>
              </a:solidFill>
            </a:endParaRPr>
          </a:p>
          <a:p>
            <a:pPr algn="ctr"/>
            <a:r>
              <a:rPr lang="en-US" sz="2500" b="1" smtClean="0">
                <a:solidFill>
                  <a:srgbClr val="FF0000"/>
                </a:solidFill>
                <a:hlinkClick r:id="rId1"/>
              </a:rPr>
              <a:t>www.facebook.com/groups/daihoccantho.ctu</a:t>
            </a:r>
            <a:endParaRPr lang="en-US" sz="2500" b="1">
              <a:solidFill>
                <a:srgbClr val="FF0000"/>
              </a:solidFill>
            </a:endParaRPr>
          </a:p>
        </p:txBody>
      </p:sp>
      <p:sp>
        <p:nvSpPr>
          <p:cNvPr id="82" name="Text Box 5"/>
          <p:cNvSpPr txBox="1">
            <a:spLocks noChangeArrowheads="1"/>
          </p:cNvSpPr>
          <p:nvPr/>
        </p:nvSpPr>
        <p:spPr bwMode="auto">
          <a:xfrm>
            <a:off x="609600" y="6430963"/>
            <a:ext cx="3505200" cy="2746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 altLang="en-US" sz="1200" b="1" i="1" smtClean="0">
                <a:solidFill>
                  <a:srgbClr val="000066"/>
                </a:solidFill>
              </a:rPr>
              <a:t>motphutcantho.com</a:t>
            </a:r>
            <a:endParaRPr lang="en-US" altLang="en-US" sz="1200" b="1" i="1">
              <a:solidFill>
                <a:srgbClr val="000066"/>
              </a:solidFill>
            </a:endParaRPr>
          </a:p>
        </p:txBody>
      </p:sp>
      <p:sp>
        <p:nvSpPr>
          <p:cNvPr id="6" name="Down Arrow 5"/>
          <p:cNvSpPr/>
          <p:nvPr/>
        </p:nvSpPr>
        <p:spPr>
          <a:xfrm>
            <a:off x="4183483" y="3276600"/>
            <a:ext cx="540917" cy="457200"/>
          </a:xfrm>
          <a:prstGeom prst="downArrow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efault Design">
  <a:themeElements>
    <a:clrScheme name="Default Design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Default Design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raClrSchemeLst>
    <a:extraClrScheme>
      <a:clrScheme name="Default Design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3394</Words>
  <Application>WPS Presentation</Application>
  <PresentationFormat>On-screen Show (4:3)</PresentationFormat>
  <Paragraphs>152</Paragraphs>
  <Slides>22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22</vt:i4>
      </vt:variant>
    </vt:vector>
  </HeadingPairs>
  <TitlesOfParts>
    <vt:vector size="30" baseType="lpstr">
      <vt:lpstr>Arial</vt:lpstr>
      <vt:lpstr>SimSun</vt:lpstr>
      <vt:lpstr>Wingdings</vt:lpstr>
      <vt:lpstr>Microsoft YaHei</vt:lpstr>
      <vt:lpstr>Arial Unicode MS</vt:lpstr>
      <vt:lpstr>Calibri</vt:lpstr>
      <vt:lpstr>Times New Roman</vt:lpstr>
      <vt:lpstr>Default Design</vt:lpstr>
      <vt:lpstr>HỆ THỐNG QUẢN LÝ SINH VIÊN</vt:lpstr>
      <vt:lpstr>THÔNG TIN CHUNG</vt:lpstr>
      <vt:lpstr>CHỨC NĂNG CỦA HỆ THỐNG</vt:lpstr>
      <vt:lpstr>CHỨC NĂNG CỦA HỆ THỐNG</vt:lpstr>
      <vt:lpstr>CHỨC NĂNG CỦA HỆ THỐNG</vt:lpstr>
      <vt:lpstr>CHỨC NĂNG CỦA HỆ THỐNG</vt:lpstr>
      <vt:lpstr>PHÂN CÔNG CÔNG VIỆC</vt:lpstr>
      <vt:lpstr>THIẾT KẾ CƠ SỞ DỮ LIỆU</vt:lpstr>
      <vt:lpstr>STORED OBJECTS &amp; LOGIC</vt:lpstr>
      <vt:lpstr>STORED OBJECTS &amp; LOGIC</vt:lpstr>
      <vt:lpstr>STORED OBJECTS &amp; LOGIC</vt:lpstr>
      <vt:lpstr>STORED OBJECTS &amp; LOGIC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CANTHO UNIVERSITY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LRC</dc:creator>
  <cp:lastModifiedBy>Trinh Minh Vi B2306600</cp:lastModifiedBy>
  <cp:revision>59</cp:revision>
  <dcterms:created xsi:type="dcterms:W3CDTF">2008-08-06T06:37:00Z</dcterms:created>
  <dcterms:modified xsi:type="dcterms:W3CDTF">2026-04-10T03:32:23Z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ADC916A4D6BD4782BBAEF7DFCB15887C_12</vt:lpwstr>
  </property>
  <property fmtid="{D5CDD505-2E9C-101B-9397-08002B2CF9AE}" pid="3" name="KSOProductBuildVer">
    <vt:lpwstr>1033-12.1.0.25242</vt:lpwstr>
  </property>
</Properties>
</file>