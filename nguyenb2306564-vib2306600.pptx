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62" r:id="rId22"/>
    <p:sldId id="264" r:id="rId2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9A7200"/>
    <a:srgbClr val="CC9900"/>
    <a:srgbClr val="0000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>
      <p:cViewPr varScale="1">
        <p:scale>
          <a:sx n="83" d="100"/>
          <a:sy n="83" d="100"/>
        </p:scale>
        <p:origin x="143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xmlns="" id="{12716CEC-4EB7-4AF5-B8B4-13A4AA74F18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719138" y="2130425"/>
            <a:ext cx="77724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xmlns="" id="{7A8B1175-CAAE-4DE1-9BCE-EE12E154858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xmlns="" id="{4EFCFD27-3C59-440E-9355-8E61DE9E9F6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xmlns="" id="{18A37AE1-76EA-4F7C-89AE-6531C0C56B99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90" name="Rectangle 6">
            <a:extLst>
              <a:ext uri="{FF2B5EF4-FFF2-40B4-BE49-F238E27FC236}">
                <a16:creationId xmlns:a16="http://schemas.microsoft.com/office/drawing/2014/main" xmlns="" id="{E348B9C2-253F-43BD-BBE7-0B49698116D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716713" y="6230938"/>
            <a:ext cx="2133600" cy="549275"/>
          </a:xfrm>
        </p:spPr>
        <p:txBody>
          <a:bodyPr/>
          <a:lstStyle>
            <a:lvl1pPr>
              <a:defRPr/>
            </a:lvl1pPr>
          </a:lstStyle>
          <a:p>
            <a:fld id="{A15EAB53-327E-4220-A7C8-79A6407182B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AB7FED8-62E4-44F9-8635-073E7D21D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04BF88E-6176-40DB-A4F0-5F9D10D14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7CD7C81-1B47-4037-B98B-75A1F4012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5C4BD4-42E2-497A-AD54-B10928A49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2C080A8-4B04-4A76-AD9D-D3373B2C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4F63AB-74FF-4D4D-9C96-7E67E70BF8F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0515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9CE863-2F38-493E-AC5F-35F839ABE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E71EE57-4E33-4768-BDE6-1E42E78CC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1F47056-25E1-4B67-85BD-73087B72E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94B0AFD-04FE-4D58-8BBC-B3312F470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640AEAA-EABC-4389-89FD-1194EAE5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F88ED3-DC84-4DB0-B233-29AE8689A18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5107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E3C47-6B83-4D40-8FFA-423CDED8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55CE053-7F00-4D26-A49E-468074BDA0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C77BA0AC-734F-47AA-97FD-4DA7FEF91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00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4211179-6CFA-425B-9D7F-2BE020654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A6E626E-637B-499E-9E2C-ACC64C09C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177475E-6A5C-42A5-8A22-584439427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79D017-4D2B-4917-98EC-EFDC1350D1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3398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6D1F325-80E3-4F90-BD69-5037DB90D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6DC193B-2F0E-4826-9109-B6307A9C0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4A24B64-B380-470F-9CDE-73C0D43F67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890F4E0-0F61-4F55-8A7A-765984DF7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9895C38B-8A04-4272-A3E6-393D955555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46373DA-5867-4829-AD43-C6FCC79A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021764FC-FDFA-416E-997C-F691587D4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27E741E6-72FD-4F69-97E8-CAC734DCE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7F60C-663B-45B5-8BAA-0CD5F56CC8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2112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52B71A-EE87-467A-AD67-4ECCFB0E5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5D6EB2EF-2DBC-41CB-8232-B6E49BCBA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A583847-6C7C-4715-98B9-D40636DA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5F0D5148-3F8F-464B-A3E1-5F680B454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BD403-5F74-427A-8423-78614D45D9C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020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70D4DB3-3677-453C-AD63-255313C4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91E578C-2E20-4473-943A-093C5C314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A3681F5-37CC-4FFE-98C1-BDE69E138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445B6F-8FF7-4085-BE97-4B03885D15A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5274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7E10611-3704-4861-BD88-F503F43F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9DB25AB-F178-4E56-A78A-D3E5D8B2D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D8C3404-B5CD-41A1-BD0C-CEB1CDB87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8903B3B-2157-4986-A6D1-D21E38C81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A6720C0-253D-4EFB-8A0E-096A4FC7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7B78D71A-2EC3-4B1C-AE98-CEF4BA88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5A644C7-8C57-4BC2-BD31-5EE7CB8540F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4875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B4A99F-9EE0-4942-BCEE-A1E732C0F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4BA78B66-2785-4358-A99C-30D13EE9AD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A38E7B7-693B-436C-ACFB-D578D6C85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D59676D-A17F-46ED-B322-996E92CC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398B656-A461-4B3F-8ECD-A1C58EEC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705B36D-F955-462B-899C-F46A6F9E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64E658-6E24-430E-B2BE-9BADE501346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9652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822BBF-5276-4192-BA57-B0752687F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8C078B-EB7B-44AD-A4C2-B8DC31D9B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D07DE7E-9122-41D3-A66E-3CDCBCE9C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AF65EA4-62DF-493C-B19B-64550981D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4301BB-D36E-4AE2-BE8A-E50EB27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4A5476-CA43-47FE-BA67-73FA2851AFC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0917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C55C4325-1A15-4599-B036-9FA60518A5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81800" y="282575"/>
            <a:ext cx="2057400" cy="604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792199C-8BFD-4358-9055-518928EAE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0" y="282575"/>
            <a:ext cx="6019800" cy="60420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B64E68E-040F-4912-9B7B-725CFB7D6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D139E95-5F5B-4E87-9B2F-A9A70957A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C4FE7F3-EC17-415F-863D-DF17690ED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DC5CE5-D93D-42E1-A365-D1BB034BB8A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784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xmlns="" id="{01405D41-0CC5-41DF-A29F-0509945FC10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52600" y="282575"/>
            <a:ext cx="7086600" cy="9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xmlns="" id="{8E07D3DA-2B85-42CC-8062-8B65F67586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33538"/>
            <a:ext cx="8229600" cy="4691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xmlns="" id="{E07E20C1-4C65-4624-AA2D-747E84F1D3C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78563"/>
            <a:ext cx="19812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xmlns="" id="{DF6370B7-BED3-4B38-A932-BD0A5880CB4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719388" y="62833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xmlns="" id="{848F6441-6898-4A31-A185-8673B9B54AC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226175"/>
            <a:ext cx="2133600" cy="55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306FFC55-A7E0-43C6-B48A-D297196E04B7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rgbClr val="996633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900" kern="1200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600" kern="1200">
          <a:solidFill>
            <a:srgbClr val="0000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 kern="1200">
          <a:solidFill>
            <a:srgbClr val="0000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ern="1200">
          <a:solidFill>
            <a:srgbClr val="0000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ern="1200">
          <a:solidFill>
            <a:srgbClr val="0000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acebook.com/groups/daihoccantho.ct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xmlns="" id="{1CDA1651-B184-4C83-9729-35D701BE495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719138" y="2130426"/>
            <a:ext cx="7772400" cy="963612"/>
          </a:xfrm>
        </p:spPr>
        <p:txBody>
          <a:bodyPr/>
          <a:lstStyle/>
          <a:p>
            <a:pPr algn="ctr"/>
            <a:r>
              <a:rPr lang="en-US" smtClean="0"/>
              <a:t>HỆ THỐNG QUẢN LÝ SINH VIÊN</a:t>
            </a:r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990600" y="3100965"/>
            <a:ext cx="7239000" cy="556635"/>
          </a:xfrm>
        </p:spPr>
        <p:txBody>
          <a:bodyPr/>
          <a:lstStyle/>
          <a:p>
            <a:r>
              <a:rPr lang="en-US" altLang="en-US" sz="2600" smtClean="0"/>
              <a:t>Báo cáo</a:t>
            </a:r>
            <a:r>
              <a:rPr lang="en-US" altLang="en-US" sz="2600" smtClean="0"/>
              <a:t> môn học: Quản trị dữ liệu – CT467</a:t>
            </a:r>
            <a:endParaRPr lang="en-US" altLang="en-US" sz="2600"/>
          </a:p>
        </p:txBody>
      </p:sp>
      <p:sp>
        <p:nvSpPr>
          <p:cNvPr id="2053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02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400" b="1" smtClean="0"/>
              <a:t>Thành viên nhóm:</a:t>
            </a:r>
          </a:p>
          <a:p>
            <a:pPr algn="l"/>
            <a:r>
              <a:rPr lang="en-US" altLang="en-US" sz="2000" smtClean="0"/>
              <a:t>Lê Hoàng Nguyên – B2306564</a:t>
            </a:r>
          </a:p>
          <a:p>
            <a:pPr algn="l"/>
            <a:r>
              <a:rPr lang="en-US" altLang="en-US" sz="2000" smtClean="0"/>
              <a:t>Trịnh Minh Vĩ – B2306600</a:t>
            </a:r>
            <a:endParaRPr lang="en-US" altLang="en-US" sz="200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xmlns="" id="{80E355BD-3478-446D-BADE-5B579DF2F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en-US" sz="2400" b="1" smtClean="0"/>
              <a:t>Giáo viên hướng dẫn:</a:t>
            </a:r>
          </a:p>
          <a:p>
            <a:pPr algn="r"/>
            <a:r>
              <a:rPr lang="en-US" altLang="en-US" sz="2000" smtClean="0"/>
              <a:t>Trần Công Án</a:t>
            </a:r>
            <a:endParaRPr lang="en-US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THÔNG TIN </a:t>
            </a:r>
            <a:r>
              <a:rPr lang="en-US" smtClean="0"/>
              <a:t>CHUNG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</a:t>
            </a:r>
            <a:r>
              <a:rPr lang="en-US" smtClean="0"/>
              <a:t>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/>
              <a:t>Hệ thống được thiết kế theo 3 phân hệ chính dựa trên vai trò người dùng:</a:t>
            </a:r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0358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Admin:</a:t>
            </a:r>
            <a:endParaRPr lang="en-US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cấu trúc đào tạo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CRUD Khoa, Ngành, Lớp hành chính.</a:t>
            </a:r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khung chương trình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danh mục Môn học, số tín chỉ.</a:t>
            </a:r>
          </a:p>
          <a:p>
            <a:pPr lvl="1"/>
            <a:r>
              <a:rPr lang="vi-VN" sz="2400" b="1" smtClean="0"/>
              <a:t>Cấu </a:t>
            </a:r>
            <a:r>
              <a:rPr lang="vi-VN" sz="2400" b="1"/>
              <a:t>hình hệ </a:t>
            </a:r>
            <a:r>
              <a:rPr lang="vi-VN" sz="2400" b="1" smtClean="0"/>
              <a:t>thống:</a:t>
            </a:r>
            <a:r>
              <a:rPr lang="en-US" sz="2400" b="1" smtClean="0"/>
              <a:t> </a:t>
            </a:r>
            <a:r>
              <a:rPr lang="vi-VN" sz="2400" smtClean="0"/>
              <a:t>Quản </a:t>
            </a:r>
            <a:r>
              <a:rPr lang="vi-VN" sz="2400"/>
              <a:t>lý Học kỳ, thiết lập đơn giá tín chỉ theo năm học.</a:t>
            </a:r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hồ sơ nhân sự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thông tin Giảng viên, Sinh viên; tự động cấp tài khoản.</a:t>
            </a:r>
          </a:p>
          <a:p>
            <a:pPr lvl="1"/>
            <a:r>
              <a:rPr lang="vi-VN" sz="2400" b="1" smtClean="0"/>
              <a:t>Thống </a:t>
            </a:r>
            <a:r>
              <a:rPr lang="vi-VN" sz="2400" b="1"/>
              <a:t>kê &amp; Báo cáo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Xem báo cáo doanh thu học phí, danh sách nợ phí.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045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vi-VN" b="1" smtClean="0"/>
              <a:t>Tra </a:t>
            </a:r>
            <a:r>
              <a:rPr lang="vi-VN" b="1"/>
              <a:t>cứu </a:t>
            </a:r>
            <a:r>
              <a:rPr lang="en-US" b="1" err="1" smtClean="0"/>
              <a:t>môn</a:t>
            </a:r>
            <a:r>
              <a:rPr lang="en-US" b="1" smtClean="0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phụ</a:t>
            </a:r>
            <a:r>
              <a:rPr lang="en-US" b="1" smtClean="0"/>
              <a:t> </a:t>
            </a:r>
            <a:r>
              <a:rPr lang="en-US" b="1" err="1" smtClean="0"/>
              <a:t>trách</a:t>
            </a:r>
            <a:r>
              <a:rPr lang="vi-VN" b="1" smtClean="0"/>
              <a:t>:</a:t>
            </a:r>
            <a:r>
              <a:rPr lang="vi-VN" smtClean="0"/>
              <a:t>Xem </a:t>
            </a:r>
            <a:r>
              <a:rPr lang="vi-VN"/>
              <a:t>danh sách các lớp học phần được phân công trong kỳ.</a:t>
            </a:r>
          </a:p>
          <a:p>
            <a:pPr lvl="1"/>
            <a:r>
              <a:rPr lang="vi-VN" b="1" smtClean="0"/>
              <a:t>Quản </a:t>
            </a:r>
            <a:r>
              <a:rPr lang="vi-VN" b="1"/>
              <a:t>lý điểm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Nhập điểm và cập nhật điểm số cho sinh viên trong lớp.</a:t>
            </a:r>
          </a:p>
          <a:p>
            <a:pPr lvl="1"/>
            <a:r>
              <a:rPr lang="vi-VN" b="1" smtClean="0"/>
              <a:t>Báo </a:t>
            </a:r>
            <a:r>
              <a:rPr lang="vi-VN" b="1"/>
              <a:t>cáo chất lượng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Xem thống kê tỷ lệ Đậu/Rớt của lớp phụ trách.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7730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en-US" b="1" err="1" smtClean="0"/>
              <a:t>Đăng</a:t>
            </a:r>
            <a:r>
              <a:rPr lang="en-US" b="1" smtClean="0"/>
              <a:t> </a:t>
            </a:r>
            <a:r>
              <a:rPr lang="en-US" b="1" err="1"/>
              <a:t>ký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phần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Đăng</a:t>
            </a:r>
            <a:r>
              <a:rPr lang="en-US"/>
              <a:t> </a:t>
            </a:r>
            <a:r>
              <a:rPr lang="en-US" err="1"/>
              <a:t>ký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kỳ</a:t>
            </a:r>
            <a:r>
              <a:rPr lang="en-US"/>
              <a:t> </a:t>
            </a:r>
            <a:r>
              <a:rPr lang="en-US" err="1"/>
              <a:t>đang</a:t>
            </a:r>
            <a:r>
              <a:rPr lang="en-US"/>
              <a:t> </a:t>
            </a:r>
            <a:r>
              <a:rPr lang="en-US" err="1"/>
              <a:t>mở</a:t>
            </a:r>
            <a:r>
              <a:rPr lang="en-US"/>
              <a:t>.</a:t>
            </a:r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tập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Xem</a:t>
            </a:r>
            <a:r>
              <a:rPr lang="en-US"/>
              <a:t> </a:t>
            </a:r>
            <a:r>
              <a:rPr lang="en-US" err="1"/>
              <a:t>bảng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,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động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GPA </a:t>
            </a:r>
            <a:r>
              <a:rPr lang="en-US" err="1"/>
              <a:t>tích</a:t>
            </a:r>
            <a:r>
              <a:rPr lang="en-US"/>
              <a:t> </a:t>
            </a:r>
            <a:r>
              <a:rPr lang="en-US" err="1"/>
              <a:t>lũy</a:t>
            </a:r>
            <a:r>
              <a:rPr lang="en-US"/>
              <a:t>.</a:t>
            </a:r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phí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Tra</a:t>
            </a:r>
            <a:r>
              <a:rPr lang="en-US"/>
              <a:t> </a:t>
            </a:r>
            <a:r>
              <a:rPr lang="en-US" err="1"/>
              <a:t>cứu</a:t>
            </a:r>
            <a:r>
              <a:rPr lang="en-US"/>
              <a:t>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err="1"/>
              <a:t>nợ</a:t>
            </a:r>
            <a:r>
              <a:rPr lang="en-US"/>
              <a:t>, </a:t>
            </a:r>
            <a:r>
              <a:rPr lang="en-US" err="1"/>
              <a:t>xem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phí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thực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</a:t>
            </a:r>
            <a:r>
              <a:rPr lang="en-US" err="1"/>
              <a:t>trực</a:t>
            </a:r>
            <a:r>
              <a:rPr lang="en-US"/>
              <a:t> </a:t>
            </a:r>
            <a:r>
              <a:rPr lang="en-US" err="1"/>
              <a:t>tuyến</a:t>
            </a:r>
            <a:r>
              <a:rPr lang="en-US"/>
              <a:t>.</a:t>
            </a:r>
          </a:p>
          <a:p>
            <a:pPr lvl="1"/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5444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CÔNG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smtClean="0"/>
              <a:t>VIỆC</a:t>
            </a:r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884494"/>
              </p:ext>
            </p:extLst>
          </p:nvPr>
        </p:nvGraphicFramePr>
        <p:xfrm>
          <a:off x="304800" y="2057400"/>
          <a:ext cx="8229600" cy="3930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19400"/>
                <a:gridCol w="3124200"/>
              </a:tblGrid>
              <a:tr h="76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viên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Nhiệm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Kỹ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thuật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trách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Lê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Hoàng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Nguyên</a:t>
                      </a: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Quản lý danh mục, Hồ sơ nhân sự và nghiệp vụ Giảng viên.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CRUD, Stored Procedure báo cáo đào tạo, Hệ thống Menu điều hướng, Bảo mật đăng nhập.</a:t>
                      </a: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Trịnh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Minh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Vĩ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Xử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nghiệp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Tài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và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Đăng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học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Triển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logic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luồng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tiền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(Đăng ký, Đóng tiền), Stored Function (GPA, Công nợ), Procedure tài chính.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786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THIẾT KẾ CƠ SỞ </a:t>
            </a:r>
            <a:r>
              <a:rPr lang="vi-VN"/>
              <a:t>DỮ </a:t>
            </a:r>
            <a:r>
              <a:rPr lang="vi-VN" smtClean="0"/>
              <a:t>LIỆU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602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</a:t>
            </a:r>
            <a:r>
              <a:rPr lang="en-US" smtClean="0"/>
              <a:t>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Giao dịch (Transactions) - Xử lý Backend Java:</a:t>
            </a:r>
            <a:endParaRPr lang="vi-VN"/>
          </a:p>
          <a:p>
            <a:pPr lvl="1"/>
            <a:r>
              <a:rPr lang="vi-VN" b="1" smtClean="0"/>
              <a:t>Transaction </a:t>
            </a:r>
            <a:r>
              <a:rPr lang="vi-VN" b="1"/>
              <a:t>Đăng ký học </a:t>
            </a:r>
            <a:r>
              <a:rPr lang="vi-VN" b="1"/>
              <a:t>phần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Thực hiện kiểm tra sĩ số lớp -&gt; INSERT bảng DIEM -&gt; Cập nhật tiền nợ. Nếu một bước lỗi, hệ thống sẽ `Rollback` để tránh dữ liệu ảo.</a:t>
            </a:r>
          </a:p>
          <a:p>
            <a:pPr lvl="1"/>
            <a:r>
              <a:rPr lang="vi-VN" b="1" smtClean="0"/>
              <a:t>Transaction </a:t>
            </a:r>
            <a:r>
              <a:rPr lang="vi-VN" b="1"/>
              <a:t>Đóng tiền học </a:t>
            </a:r>
            <a:r>
              <a:rPr lang="vi-VN" b="1"/>
              <a:t>phí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Ghi dữ liệu vào bảng `PHIEU_THU` -&gt; Cập nhật số tiền `DaDong` trong bảng `HOC_PHI`. Đảm bảo tính nhất quán của số dư.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364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Thủ tục lưu trữ (Stored Procedures):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sp_BaoCaoDoanhThuHocPhi`: Sử dụng `SUM`, `JOIN` và `GROUP BY` để thống kê tiền học phí thực thu theo từng Khoa.</a:t>
            </a:r>
          </a:p>
          <a:p>
            <a:pPr lvl="1"/>
            <a:r>
              <a:rPr lang="vi-VN" smtClean="0"/>
              <a:t>`</a:t>
            </a:r>
            <a:r>
              <a:rPr lang="vi-VN"/>
              <a:t>sp_BaoCaoChatLuong_LHP`: Tính toán tỷ lệ phần trăm Đậu/Rớt và tìm điểm cao nhất của một lớp.</a:t>
            </a:r>
          </a:p>
          <a:p>
            <a:pPr lvl="1"/>
            <a:r>
              <a:rPr lang="vi-VN" smtClean="0"/>
              <a:t>`</a:t>
            </a:r>
            <a:r>
              <a:rPr lang="vi-VN"/>
              <a:t>sp_ThongKeSVNoHocPhi`: Lọc danh sách sinh viên chưa hoàn thành học phí trong kỳ để gửi thông báo.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1661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52600" y="282575"/>
            <a:ext cx="6858000" cy="944563"/>
          </a:xfrm>
        </p:spPr>
        <p:txBody>
          <a:bodyPr/>
          <a:lstStyle/>
          <a:p>
            <a:r>
              <a:rPr lang="en-US"/>
              <a:t>STORED OBJECTS &amp; LOGIC</a:t>
            </a:r>
            <a:endParaRPr lang="en-US" b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/>
              <a:t>Hàm tự định nghĩa (Stored Functions):</a:t>
            </a:r>
            <a:endParaRPr lang="en-US"/>
          </a:p>
          <a:p>
            <a:pPr lvl="1"/>
            <a:r>
              <a:rPr lang="en-US" smtClean="0"/>
              <a:t>`</a:t>
            </a:r>
            <a:r>
              <a:rPr lang="en-US"/>
              <a:t>func_TinhGPA(mssv)`: Duyệt qua bảng điểm, tính trung bình có trọng số theo số tín chỉ của từng môn học.</a:t>
            </a:r>
          </a:p>
          <a:p>
            <a:pPr lvl="1"/>
            <a:r>
              <a:rPr lang="en-US" smtClean="0"/>
              <a:t>`func_TinhTienNo(mssv</a:t>
            </a:r>
            <a:r>
              <a:rPr lang="en-US"/>
              <a:t>, maHK)`: Trả về kết quả (Tổng phải nộp - Tổng đã đóng) cho một sinh viên cụ thể.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4988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Trình kích hoạt (Triggers):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trg_CapNhatHocPhi`: Tự động tính toán số tiền học phí phát sinh ngay khi sinh viên đăng ký môn học (Số tín chỉ * Đơn giá) và cộng vào bảng `HOC_PHI`</a:t>
            </a:r>
          </a:p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7489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851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16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040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6528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7413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4216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440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xmlns="" id="{D09A8D8C-80F7-440C-BEF1-9EFA4CBAA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xmlns="" id="{2EE127BF-401A-4C36-A14A-872ADB44AB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9684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>
            <a:extLst>
              <a:ext uri="{FF2B5EF4-FFF2-40B4-BE49-F238E27FC236}">
                <a16:creationId xmlns:a16="http://schemas.microsoft.com/office/drawing/2014/main" xmlns="" id="{56E01181-FA81-4C6D-9E62-C7D65FDA83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2373313"/>
            <a:ext cx="7924800" cy="2555875"/>
          </a:xfrm>
        </p:spPr>
        <p:txBody>
          <a:bodyPr/>
          <a:lstStyle/>
          <a:p>
            <a:pPr algn="ctr">
              <a:buFontTx/>
              <a:buNone/>
            </a:pPr>
            <a:endParaRPr lang="en-US" altLang="en-US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5507" y="2133600"/>
            <a:ext cx="8345553" cy="23544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smtClean="0"/>
              <a:t>NHÓM GIAO LƯU SINH VIÊN, CỰU SINH VIÊN</a:t>
            </a:r>
          </a:p>
          <a:p>
            <a:pPr algn="ctr"/>
            <a:endParaRPr lang="en-US" sz="2000" b="1" smtClean="0"/>
          </a:p>
          <a:p>
            <a:pPr algn="ctr"/>
            <a:r>
              <a:rPr lang="en-US" sz="2200" b="1" smtClean="0">
                <a:solidFill>
                  <a:srgbClr val="FF0000"/>
                </a:solidFill>
              </a:rPr>
              <a:t>CTU – CỘNG ĐỒNG SINH VIÊN TRƯỜNG ĐẠI HỌC CẦN THƠ</a:t>
            </a: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>
              <a:solidFill>
                <a:srgbClr val="FF0000"/>
              </a:solidFill>
            </a:endParaRPr>
          </a:p>
          <a:p>
            <a:pPr algn="ctr"/>
            <a:r>
              <a:rPr lang="en-US" sz="2500" b="1" smtClean="0">
                <a:solidFill>
                  <a:srgbClr val="FF0000"/>
                </a:solidFill>
                <a:hlinkClick r:id="rId2"/>
              </a:rPr>
              <a:t>www.facebook.com/groups/daihoccantho.ctu</a:t>
            </a:r>
            <a:endParaRPr lang="en-US" sz="2500" b="1">
              <a:solidFill>
                <a:srgbClr val="FF0000"/>
              </a:solidFill>
            </a:endParaRPr>
          </a:p>
        </p:txBody>
      </p:sp>
      <p:sp>
        <p:nvSpPr>
          <p:cNvPr id="82" name="Text Box 5">
            <a:extLst>
              <a:ext uri="{FF2B5EF4-FFF2-40B4-BE49-F238E27FC236}">
                <a16:creationId xmlns:a16="http://schemas.microsoft.com/office/drawing/2014/main" xmlns="" id="{3D1CE68C-65F7-4C8C-AB01-78D31225A9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183483" y="3276600"/>
            <a:ext cx="540917" cy="457200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735314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740</Words>
  <Application>Microsoft Office PowerPoint</Application>
  <PresentationFormat>On-screen Show (4:3)</PresentationFormat>
  <Paragraphs>86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Default Design</vt:lpstr>
      <vt:lpstr>HỆ THỐNG QUẢN LÝ SINH VIÊN</vt:lpstr>
      <vt:lpstr>THÔNG TIN CHUNG</vt:lpstr>
      <vt:lpstr>CHỨC NĂNG CỦA HỆ THỐNG</vt:lpstr>
      <vt:lpstr>CHỨC NĂNG CỦA HỆ THỐNG</vt:lpstr>
      <vt:lpstr>CHỨC NĂNG CỦA HỆ THỐNG</vt:lpstr>
      <vt:lpstr>CHỨC NĂNG CỦA HỆ THỐNG</vt:lpstr>
      <vt:lpstr>PHÂN CÔNG CÔNG VIỆC</vt:lpstr>
      <vt:lpstr>THIẾT KẾ CƠ SỞ DỮ LIỆU</vt:lpstr>
      <vt:lpstr>STORED OBJECTS &amp; LOGIC</vt:lpstr>
      <vt:lpstr>STORED OBJECTS &amp; LOGIC</vt:lpstr>
      <vt:lpstr>STORED OBJECTS &amp; LOGIC</vt:lpstr>
      <vt:lpstr>STORED OBJECTS &amp; LOGIC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CANTHO UNIVERSITY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LRC</dc:creator>
  <cp:lastModifiedBy>Nguyên</cp:lastModifiedBy>
  <cp:revision>58</cp:revision>
  <dcterms:created xsi:type="dcterms:W3CDTF">2008-08-06T06:37:20Z</dcterms:created>
  <dcterms:modified xsi:type="dcterms:W3CDTF">2026-04-10T02:42:21Z</dcterms:modified>
</cp:coreProperties>
</file>