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3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84" r:id="rId12"/>
    <p:sldId id="285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62" r:id="rId25"/>
    <p:sldId id="264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33"/>
    <a:srgbClr val="9A7200"/>
    <a:srgbClr val="CC9900"/>
    <a:srgbClr val="000099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howGuides="1">
      <p:cViewPr varScale="1">
        <p:scale>
          <a:sx n="83" d="100"/>
          <a:sy n="83" d="100"/>
        </p:scale>
        <p:origin x="1435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19138" y="2130425"/>
            <a:ext cx="77724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en-US" noProof="0"/>
              <a:t>Click to edit Master title style</a:t>
            </a:r>
            <a:endParaRPr lang="en-US" altLang="en-US" noProof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  <a:endParaRPr lang="en-US" altLang="en-US" noProof="0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19812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716713" y="6230938"/>
            <a:ext cx="2133600" cy="549275"/>
          </a:xfrm>
        </p:spPr>
        <p:txBody>
          <a:bodyPr/>
          <a:lstStyle>
            <a:lvl1pPr>
              <a:defRPr/>
            </a:lvl1pPr>
          </a:lstStyle>
          <a:p>
            <a:fld id="{A15EAB53-327E-4220-A7C8-79A6407182B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4F63AB-74FF-4D4D-9C96-7E67E70BF8FF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F88ED3-DC84-4DB0-B233-29AE8689A18E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33538"/>
            <a:ext cx="4038600" cy="4691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633538"/>
            <a:ext cx="4038600" cy="4691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79D017-4D2B-4917-98EC-EFDC1350D1A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F7F60C-663B-45B5-8BAA-0CD5F56CC8F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9BD403-5F74-427A-8423-78614D45D9C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445B6F-8FF7-4085-BE97-4B03885D15A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A644C7-8C57-4BC2-BD31-5EE7CB8540F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64E658-6E24-430E-B2BE-9BADE501346F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4A5476-CA43-47FE-BA67-73FA2851AFC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82575"/>
            <a:ext cx="2057400" cy="60420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82575"/>
            <a:ext cx="6019800" cy="60420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DC5CE5-D93D-42E1-A365-D1BB034BB8A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FFC55-A7E0-43C6-B48A-D297196E04B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52600" y="282575"/>
            <a:ext cx="7086600" cy="94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33538"/>
            <a:ext cx="8229600" cy="4691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78563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19388" y="62833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26175"/>
            <a:ext cx="2133600" cy="554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306FFC55-A7E0-43C6-B48A-D297196E04B7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fontAlgn="base">
        <a:spcBef>
          <a:spcPct val="0"/>
        </a:spcBef>
        <a:spcAft>
          <a:spcPct val="0"/>
        </a:spcAft>
        <a:defRPr sz="3200" b="1" kern="1200">
          <a:solidFill>
            <a:srgbClr val="996633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rgbClr val="996633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rgbClr val="996633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rgbClr val="996633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rgbClr val="996633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996633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996633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996633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996633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900" kern="1200">
          <a:solidFill>
            <a:srgbClr val="000066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600" kern="1200">
          <a:solidFill>
            <a:srgbClr val="000066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200" kern="1200">
          <a:solidFill>
            <a:srgbClr val="000066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ern="1200">
          <a:solidFill>
            <a:srgbClr val="000066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ern="1200">
          <a:solidFill>
            <a:srgbClr val="00006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facebook.com/groups/daihoccantho.ct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19138" y="2130426"/>
            <a:ext cx="7772400" cy="963612"/>
          </a:xfrm>
        </p:spPr>
        <p:txBody>
          <a:bodyPr/>
          <a:lstStyle/>
          <a:p>
            <a:pPr algn="ctr"/>
            <a:r>
              <a:rPr lang="en-US" smtClean="0"/>
              <a:t>HỆ THỐNG QUẢN LÝ SINH VIÊN</a:t>
            </a:r>
            <a:endParaRPr lang="en-US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100965"/>
            <a:ext cx="7239000" cy="556635"/>
          </a:xfrm>
        </p:spPr>
        <p:txBody>
          <a:bodyPr/>
          <a:lstStyle/>
          <a:p>
            <a:r>
              <a:rPr lang="en-US" altLang="en-US" sz="2600" smtClean="0"/>
              <a:t>Báo cáo</a:t>
            </a:r>
            <a:r>
              <a:rPr lang="en-US" altLang="en-US" sz="2600" smtClean="0"/>
              <a:t> môn học: Quản trị dữ liệu – CT467</a:t>
            </a:r>
            <a:endParaRPr lang="en-US" altLang="en-US" sz="2600"/>
          </a:p>
        </p:txBody>
      </p:sp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609600" y="6430963"/>
            <a:ext cx="3505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 i="1" smtClean="0">
                <a:solidFill>
                  <a:srgbClr val="000066"/>
                </a:solidFill>
              </a:rPr>
              <a:t>motphutcantho.com</a:t>
            </a:r>
            <a:endParaRPr lang="en-US" altLang="en-US" sz="1200" b="1" i="1">
              <a:solidFill>
                <a:srgbClr val="000066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09902" y="4495800"/>
            <a:ext cx="3938298" cy="1307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FontTx/>
              <a:buNone/>
              <a:defRPr sz="2900" kern="12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600" kern="12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2400" b="1" smtClean="0"/>
              <a:t>Thành viên nhóm:</a:t>
            </a:r>
            <a:endParaRPr lang="en-US" altLang="en-US" sz="2400" b="1" smtClean="0"/>
          </a:p>
          <a:p>
            <a:pPr algn="l"/>
            <a:r>
              <a:rPr lang="en-US" altLang="en-US" sz="2000" smtClean="0"/>
              <a:t>Lê Hoàng Nguyên – B2306564</a:t>
            </a:r>
            <a:endParaRPr lang="en-US" altLang="en-US" sz="2000" smtClean="0"/>
          </a:p>
          <a:p>
            <a:pPr algn="l"/>
            <a:r>
              <a:rPr lang="en-US" altLang="en-US" sz="2000" smtClean="0"/>
              <a:t>Trịnh Minh Vĩ – B2306600</a:t>
            </a:r>
            <a:endParaRPr lang="en-US" altLang="en-US" sz="200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724400" y="4495800"/>
            <a:ext cx="3938298" cy="1307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FontTx/>
              <a:buNone/>
              <a:defRPr sz="2900" kern="12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600" kern="12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en-US" sz="2400" b="1" smtClean="0"/>
              <a:t>Giáo viên hướng dẫn:</a:t>
            </a:r>
            <a:endParaRPr lang="en-US" altLang="en-US" sz="2400" b="1" smtClean="0"/>
          </a:p>
          <a:p>
            <a:pPr algn="r"/>
            <a:r>
              <a:rPr lang="en-US" altLang="en-US" sz="2000" smtClean="0"/>
              <a:t>Trần Công Án</a:t>
            </a:r>
            <a:endParaRPr lang="en-US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THÔNG TIN </a:t>
            </a:r>
            <a:r>
              <a:rPr lang="en-US" smtClean="0"/>
              <a:t>CHUNG</a:t>
            </a:r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33538"/>
            <a:ext cx="8077200" cy="4767262"/>
          </a:xfrm>
        </p:spPr>
        <p:txBody>
          <a:bodyPr/>
          <a:lstStyle/>
          <a:p>
            <a:endParaRPr lang="en-US" altLang="en-US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09600" y="6430963"/>
            <a:ext cx="3505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 i="1" smtClean="0">
                <a:solidFill>
                  <a:srgbClr val="000066"/>
                </a:solidFill>
              </a:rPr>
              <a:t>motphutcantho.com</a:t>
            </a:r>
            <a:endParaRPr lang="en-US" altLang="en-US" sz="1200" b="1" i="1">
              <a:solidFill>
                <a:srgbClr val="00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CHỨC NĂNG CỦA HỆ </a:t>
            </a:r>
            <a:r>
              <a:rPr lang="en-US" smtClean="0"/>
              <a:t>THỐNG</a:t>
            </a:r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33538"/>
            <a:ext cx="8077200" cy="4767262"/>
          </a:xfrm>
        </p:spPr>
        <p:txBody>
          <a:bodyPr/>
          <a:lstStyle/>
          <a:p>
            <a:r>
              <a:rPr lang="vi-VN"/>
              <a:t>Hệ thống được thiết kế theo 3 phân hệ chính dựa trên vai trò người dùng:</a:t>
            </a:r>
            <a:endParaRPr lang="vi-VN"/>
          </a:p>
          <a:p>
            <a:pPr lvl="1"/>
            <a:r>
              <a:rPr lang="en-US" b="1" err="1"/>
              <a:t>Phân</a:t>
            </a:r>
            <a:r>
              <a:rPr lang="en-US" b="1"/>
              <a:t> </a:t>
            </a:r>
            <a:r>
              <a:rPr lang="en-US" b="1" err="1"/>
              <a:t>hệ</a:t>
            </a:r>
            <a:r>
              <a:rPr lang="en-US" b="1"/>
              <a:t> Admin</a:t>
            </a:r>
            <a:endParaRPr lang="en-US"/>
          </a:p>
          <a:p>
            <a:pPr lvl="1"/>
            <a:r>
              <a:rPr lang="en-US" b="1" err="1"/>
              <a:t>Phân</a:t>
            </a:r>
            <a:r>
              <a:rPr lang="en-US" b="1"/>
              <a:t> </a:t>
            </a:r>
            <a:r>
              <a:rPr lang="en-US" b="1" err="1"/>
              <a:t>hệ</a:t>
            </a:r>
            <a:r>
              <a:rPr lang="en-US" b="1"/>
              <a:t> </a:t>
            </a:r>
            <a:r>
              <a:rPr lang="en-US" b="1" err="1"/>
              <a:t>Giảng</a:t>
            </a:r>
            <a:r>
              <a:rPr lang="en-US" b="1"/>
              <a:t> </a:t>
            </a:r>
            <a:r>
              <a:rPr lang="en-US" b="1" err="1"/>
              <a:t>viên</a:t>
            </a:r>
            <a:endParaRPr lang="en-US"/>
          </a:p>
          <a:p>
            <a:pPr lvl="1"/>
            <a:r>
              <a:rPr lang="en-US" b="1" err="1"/>
              <a:t>Phân</a:t>
            </a:r>
            <a:r>
              <a:rPr lang="en-US" b="1"/>
              <a:t> </a:t>
            </a:r>
            <a:r>
              <a:rPr lang="en-US" b="1" err="1"/>
              <a:t>hệ</a:t>
            </a:r>
            <a:r>
              <a:rPr lang="en-US" b="1"/>
              <a:t> </a:t>
            </a:r>
            <a:r>
              <a:rPr lang="en-US" b="1" err="1"/>
              <a:t>Sinh</a:t>
            </a:r>
            <a:r>
              <a:rPr lang="en-US" b="1"/>
              <a:t> </a:t>
            </a:r>
            <a:r>
              <a:rPr lang="en-US" b="1" err="1"/>
              <a:t>viên</a:t>
            </a:r>
            <a:endParaRPr lang="en-US"/>
          </a:p>
          <a:p>
            <a:pPr lvl="1"/>
            <a:endParaRPr lang="en-US" altLang="en-US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09600" y="6430963"/>
            <a:ext cx="3505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 i="1" smtClean="0">
                <a:solidFill>
                  <a:srgbClr val="000066"/>
                </a:solidFill>
              </a:rPr>
              <a:t>motphutcantho.com</a:t>
            </a:r>
            <a:endParaRPr lang="en-US" altLang="en-US" sz="1200" b="1" i="1">
              <a:solidFill>
                <a:srgbClr val="00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CHỨC NĂNG CỦA HỆ THỐNG</a:t>
            </a:r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33538"/>
            <a:ext cx="8077200" cy="4767262"/>
          </a:xfrm>
        </p:spPr>
        <p:txBody>
          <a:bodyPr/>
          <a:lstStyle/>
          <a:p>
            <a:r>
              <a:rPr lang="en-US" b="1" err="1"/>
              <a:t>Phân</a:t>
            </a:r>
            <a:r>
              <a:rPr lang="en-US" b="1"/>
              <a:t> </a:t>
            </a:r>
            <a:r>
              <a:rPr lang="en-US" b="1" err="1"/>
              <a:t>hệ</a:t>
            </a:r>
            <a:r>
              <a:rPr lang="en-US" b="1"/>
              <a:t> Admin:</a:t>
            </a:r>
            <a:endParaRPr lang="en-US"/>
          </a:p>
          <a:p>
            <a:pPr lvl="1"/>
            <a:r>
              <a:rPr lang="vi-VN" sz="2400" b="1" smtClean="0"/>
              <a:t>Quản </a:t>
            </a:r>
            <a:r>
              <a:rPr lang="vi-VN" sz="2400" b="1"/>
              <a:t>lý cấu trúc đào tạo</a:t>
            </a:r>
            <a:r>
              <a:rPr lang="vi-VN" sz="2400" b="1" smtClean="0"/>
              <a:t>:</a:t>
            </a:r>
            <a:r>
              <a:rPr lang="vi-VN" sz="2400" smtClean="0"/>
              <a:t> </a:t>
            </a:r>
            <a:r>
              <a:rPr lang="vi-VN" sz="2400"/>
              <a:t>CRUD Khoa, Ngành, Lớp hành chính.</a:t>
            </a:r>
            <a:endParaRPr lang="vi-VN" sz="2400"/>
          </a:p>
          <a:p>
            <a:pPr lvl="1"/>
            <a:r>
              <a:rPr lang="vi-VN" sz="2400" b="1" smtClean="0"/>
              <a:t>Quản </a:t>
            </a:r>
            <a:r>
              <a:rPr lang="vi-VN" sz="2400" b="1"/>
              <a:t>lý khung chương trình</a:t>
            </a:r>
            <a:r>
              <a:rPr lang="vi-VN" sz="2400" b="1" smtClean="0"/>
              <a:t>:</a:t>
            </a:r>
            <a:r>
              <a:rPr lang="vi-VN" sz="2400" smtClean="0"/>
              <a:t> </a:t>
            </a:r>
            <a:r>
              <a:rPr lang="vi-VN" sz="2400"/>
              <a:t>Quản lý danh mục Môn học, số tín chỉ</a:t>
            </a:r>
            <a:r>
              <a:rPr lang="en-US" altLang="vi-VN" sz="2400"/>
              <a:t> và lớp học phần</a:t>
            </a:r>
            <a:r>
              <a:rPr lang="vi-VN" sz="2400"/>
              <a:t>.</a:t>
            </a:r>
            <a:endParaRPr lang="vi-VN" sz="2400"/>
          </a:p>
          <a:p>
            <a:pPr lvl="1"/>
            <a:r>
              <a:rPr lang="vi-VN" sz="2400" b="1" smtClean="0"/>
              <a:t>Cấu </a:t>
            </a:r>
            <a:r>
              <a:rPr lang="vi-VN" sz="2400" b="1"/>
              <a:t>hình hệ </a:t>
            </a:r>
            <a:r>
              <a:rPr lang="vi-VN" sz="2400" b="1" smtClean="0"/>
              <a:t>thống:</a:t>
            </a:r>
            <a:r>
              <a:rPr lang="en-US" sz="2400" b="1" smtClean="0"/>
              <a:t> </a:t>
            </a:r>
            <a:r>
              <a:rPr lang="vi-VN" sz="2400" smtClean="0"/>
              <a:t>Quản </a:t>
            </a:r>
            <a:r>
              <a:rPr lang="vi-VN" sz="2400"/>
              <a:t>lý Học kỳ, thiết lập đơn giá tín chỉ theo năm học.</a:t>
            </a:r>
            <a:endParaRPr lang="vi-VN" sz="2400"/>
          </a:p>
          <a:p>
            <a:pPr lvl="1"/>
            <a:r>
              <a:rPr lang="vi-VN" sz="2400" b="1" smtClean="0"/>
              <a:t>Quản </a:t>
            </a:r>
            <a:r>
              <a:rPr lang="vi-VN" sz="2400" b="1"/>
              <a:t>lý hồ sơ nhân sự</a:t>
            </a:r>
            <a:r>
              <a:rPr lang="vi-VN" sz="2400" b="1" smtClean="0"/>
              <a:t>:</a:t>
            </a:r>
            <a:r>
              <a:rPr lang="vi-VN" sz="2400" smtClean="0"/>
              <a:t> </a:t>
            </a:r>
            <a:r>
              <a:rPr lang="vi-VN" sz="2400"/>
              <a:t>Quản lý thông tin Giảng viên, Sinh viên; tự động cấp tài khoản.</a:t>
            </a:r>
            <a:endParaRPr lang="vi-VN" sz="2400"/>
          </a:p>
          <a:p>
            <a:pPr lvl="1"/>
            <a:r>
              <a:rPr lang="vi-VN" sz="2400" b="1" smtClean="0"/>
              <a:t>Thống </a:t>
            </a:r>
            <a:r>
              <a:rPr lang="vi-VN" sz="2400" b="1"/>
              <a:t>kê &amp; Báo cáo</a:t>
            </a:r>
            <a:r>
              <a:rPr lang="vi-VN" sz="2400" b="1" smtClean="0"/>
              <a:t>:</a:t>
            </a:r>
            <a:r>
              <a:rPr lang="vi-VN" sz="2400" smtClean="0"/>
              <a:t> </a:t>
            </a:r>
            <a:r>
              <a:rPr lang="vi-VN" sz="2400"/>
              <a:t>Xem báo cáo doanh thu học phí, danh sách nợ phí.</a:t>
            </a:r>
            <a:endParaRPr lang="vi-VN" sz="2400"/>
          </a:p>
          <a:p>
            <a:endParaRPr lang="en-US" altLang="en-US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09600" y="6430963"/>
            <a:ext cx="3505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 i="1" smtClean="0">
                <a:solidFill>
                  <a:srgbClr val="000066"/>
                </a:solidFill>
              </a:rPr>
              <a:t>motphutcantho.com</a:t>
            </a:r>
            <a:endParaRPr lang="en-US" altLang="en-US" sz="1200" b="1" i="1">
              <a:solidFill>
                <a:srgbClr val="00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CHỨC NĂNG CỦA HỆ THỐNG</a:t>
            </a:r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33538"/>
            <a:ext cx="8077200" cy="4767262"/>
          </a:xfrm>
        </p:spPr>
        <p:txBody>
          <a:bodyPr/>
          <a:lstStyle/>
          <a:p>
            <a:r>
              <a:rPr lang="en-US" b="1" err="1"/>
              <a:t>Phân</a:t>
            </a:r>
            <a:r>
              <a:rPr lang="en-US" b="1"/>
              <a:t> </a:t>
            </a:r>
            <a:r>
              <a:rPr lang="en-US" b="1" err="1"/>
              <a:t>hệ</a:t>
            </a:r>
            <a:r>
              <a:rPr lang="en-US" b="1"/>
              <a:t> </a:t>
            </a:r>
            <a:r>
              <a:rPr lang="en-US" b="1" err="1"/>
              <a:t>Giảng</a:t>
            </a:r>
            <a:r>
              <a:rPr lang="en-US" b="1"/>
              <a:t> </a:t>
            </a:r>
            <a:r>
              <a:rPr lang="en-US" b="1" err="1"/>
              <a:t>viên</a:t>
            </a:r>
            <a:r>
              <a:rPr lang="en-US" b="1"/>
              <a:t>:</a:t>
            </a:r>
            <a:endParaRPr lang="en-US"/>
          </a:p>
          <a:p>
            <a:pPr lvl="1"/>
            <a:r>
              <a:rPr lang="vi-VN" b="1" smtClean="0"/>
              <a:t>Tra </a:t>
            </a:r>
            <a:r>
              <a:rPr lang="vi-VN" b="1"/>
              <a:t>cứu </a:t>
            </a:r>
            <a:r>
              <a:rPr lang="en-US" b="1" err="1" smtClean="0"/>
              <a:t>môn</a:t>
            </a:r>
            <a:r>
              <a:rPr lang="en-US" b="1" smtClean="0"/>
              <a:t> </a:t>
            </a:r>
            <a:r>
              <a:rPr lang="en-US" b="1" err="1" smtClean="0"/>
              <a:t>học</a:t>
            </a:r>
            <a:r>
              <a:rPr lang="en-US" b="1" smtClean="0"/>
              <a:t> </a:t>
            </a:r>
            <a:r>
              <a:rPr lang="en-US" b="1" err="1" smtClean="0"/>
              <a:t>phụ</a:t>
            </a:r>
            <a:r>
              <a:rPr lang="en-US" b="1" smtClean="0"/>
              <a:t> </a:t>
            </a:r>
            <a:r>
              <a:rPr lang="en-US" b="1" err="1" smtClean="0"/>
              <a:t>trách</a:t>
            </a:r>
            <a:r>
              <a:rPr lang="vi-VN" b="1" smtClean="0"/>
              <a:t>:</a:t>
            </a:r>
            <a:r>
              <a:rPr lang="vi-VN" smtClean="0"/>
              <a:t>Xem </a:t>
            </a:r>
            <a:r>
              <a:rPr lang="vi-VN"/>
              <a:t>danh sách các lớp học phần được phân công trong kỳ.</a:t>
            </a:r>
            <a:endParaRPr lang="vi-VN"/>
          </a:p>
          <a:p>
            <a:pPr lvl="1"/>
            <a:r>
              <a:rPr lang="vi-VN" b="1" smtClean="0"/>
              <a:t>Quản </a:t>
            </a:r>
            <a:r>
              <a:rPr lang="vi-VN" b="1"/>
              <a:t>lý điểm</a:t>
            </a:r>
            <a:r>
              <a:rPr lang="vi-VN" b="1" smtClean="0"/>
              <a:t>:</a:t>
            </a:r>
            <a:r>
              <a:rPr lang="vi-VN" smtClean="0"/>
              <a:t> </a:t>
            </a:r>
            <a:r>
              <a:rPr lang="vi-VN"/>
              <a:t>Nhập điểm và cập nhật điểm số cho sinh viên trong lớp.</a:t>
            </a:r>
            <a:endParaRPr lang="vi-VN"/>
          </a:p>
          <a:p>
            <a:pPr lvl="1"/>
            <a:r>
              <a:rPr lang="vi-VN" b="1" smtClean="0"/>
              <a:t>Báo </a:t>
            </a:r>
            <a:r>
              <a:rPr lang="vi-VN" b="1"/>
              <a:t>cáo chất lượng</a:t>
            </a:r>
            <a:r>
              <a:rPr lang="vi-VN" b="1" smtClean="0"/>
              <a:t>:</a:t>
            </a:r>
            <a:r>
              <a:rPr lang="vi-VN" smtClean="0"/>
              <a:t> </a:t>
            </a:r>
            <a:r>
              <a:rPr lang="vi-VN"/>
              <a:t>Xem thống kê tỷ lệ Đậu/Rớt của lớp phụ trách.</a:t>
            </a:r>
            <a:endParaRPr lang="vi-VN"/>
          </a:p>
          <a:p>
            <a:endParaRPr lang="en-US" altLang="en-US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09600" y="6430963"/>
            <a:ext cx="3505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 i="1" smtClean="0">
                <a:solidFill>
                  <a:srgbClr val="000066"/>
                </a:solidFill>
              </a:rPr>
              <a:t>motphutcantho.com</a:t>
            </a:r>
            <a:endParaRPr lang="en-US" altLang="en-US" sz="1200" b="1" i="1">
              <a:solidFill>
                <a:srgbClr val="00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CHỨC NĂNG CỦA HỆ THỐNG</a:t>
            </a:r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33538"/>
            <a:ext cx="8077200" cy="4767262"/>
          </a:xfrm>
        </p:spPr>
        <p:txBody>
          <a:bodyPr/>
          <a:lstStyle/>
          <a:p>
            <a:r>
              <a:rPr lang="en-US" b="1" err="1"/>
              <a:t>Phân</a:t>
            </a:r>
            <a:r>
              <a:rPr lang="en-US" b="1"/>
              <a:t> </a:t>
            </a:r>
            <a:r>
              <a:rPr lang="en-US" b="1" err="1"/>
              <a:t>hệ</a:t>
            </a:r>
            <a:r>
              <a:rPr lang="en-US" b="1"/>
              <a:t> </a:t>
            </a:r>
            <a:r>
              <a:rPr lang="en-US" b="1" err="1"/>
              <a:t>Sinh</a:t>
            </a:r>
            <a:r>
              <a:rPr lang="en-US" b="1"/>
              <a:t> </a:t>
            </a:r>
            <a:r>
              <a:rPr lang="en-US" b="1" err="1"/>
              <a:t>viên</a:t>
            </a:r>
            <a:r>
              <a:rPr lang="en-US" b="1"/>
              <a:t>:</a:t>
            </a:r>
            <a:endParaRPr lang="en-US"/>
          </a:p>
          <a:p>
            <a:pPr lvl="1"/>
            <a:r>
              <a:rPr lang="en-US" b="1" err="1" smtClean="0"/>
              <a:t>Đăng</a:t>
            </a:r>
            <a:r>
              <a:rPr lang="en-US" b="1" smtClean="0"/>
              <a:t> </a:t>
            </a:r>
            <a:r>
              <a:rPr lang="en-US" b="1" err="1"/>
              <a:t>ký</a:t>
            </a:r>
            <a:r>
              <a:rPr lang="en-US" b="1"/>
              <a:t> </a:t>
            </a:r>
            <a:r>
              <a:rPr lang="en-US" b="1" err="1"/>
              <a:t>học</a:t>
            </a:r>
            <a:r>
              <a:rPr lang="en-US" b="1"/>
              <a:t> </a:t>
            </a:r>
            <a:r>
              <a:rPr lang="en-US" b="1" err="1"/>
              <a:t>phần</a:t>
            </a:r>
            <a:r>
              <a:rPr lang="en-US" b="1" smtClean="0"/>
              <a:t>:</a:t>
            </a:r>
            <a:r>
              <a:rPr lang="en-US" smtClean="0"/>
              <a:t> </a:t>
            </a:r>
            <a:r>
              <a:rPr lang="en-US" err="1"/>
              <a:t>Đăng</a:t>
            </a:r>
            <a:r>
              <a:rPr lang="en-US"/>
              <a:t> </a:t>
            </a:r>
            <a:r>
              <a:rPr lang="en-US" err="1"/>
              <a:t>ký</a:t>
            </a:r>
            <a:r>
              <a:rPr lang="en-US"/>
              <a:t> </a:t>
            </a:r>
            <a:r>
              <a:rPr lang="en-US" err="1"/>
              <a:t>môn</a:t>
            </a:r>
            <a:r>
              <a:rPr lang="en-US"/>
              <a:t> </a:t>
            </a:r>
            <a:r>
              <a:rPr lang="en-US" err="1"/>
              <a:t>học</a:t>
            </a:r>
            <a:r>
              <a:rPr lang="en-US"/>
              <a:t> </a:t>
            </a:r>
            <a:r>
              <a:rPr lang="en-US" err="1"/>
              <a:t>trong</a:t>
            </a:r>
            <a:r>
              <a:rPr lang="en-US"/>
              <a:t> </a:t>
            </a:r>
            <a:r>
              <a:rPr lang="en-US" err="1"/>
              <a:t>học</a:t>
            </a:r>
            <a:r>
              <a:rPr lang="en-US"/>
              <a:t> </a:t>
            </a:r>
            <a:r>
              <a:rPr lang="en-US" err="1"/>
              <a:t>kỳ</a:t>
            </a:r>
            <a:r>
              <a:rPr lang="en-US"/>
              <a:t> </a:t>
            </a:r>
            <a:r>
              <a:rPr lang="en-US" err="1"/>
              <a:t>đang</a:t>
            </a:r>
            <a:r>
              <a:rPr lang="en-US"/>
              <a:t> </a:t>
            </a:r>
            <a:r>
              <a:rPr lang="en-US" err="1"/>
              <a:t>mở, hủy đăng ký môn học</a:t>
            </a:r>
            <a:r>
              <a:rPr lang="en-US"/>
              <a:t>.</a:t>
            </a:r>
            <a:endParaRPr lang="en-US"/>
          </a:p>
          <a:p>
            <a:pPr lvl="1"/>
            <a:r>
              <a:rPr lang="en-US" b="1" err="1" smtClean="0"/>
              <a:t>Quản</a:t>
            </a:r>
            <a:r>
              <a:rPr lang="en-US" b="1" smtClean="0"/>
              <a:t> </a:t>
            </a:r>
            <a:r>
              <a:rPr lang="en-US" b="1" err="1"/>
              <a:t>lý</a:t>
            </a:r>
            <a:r>
              <a:rPr lang="en-US" b="1"/>
              <a:t> </a:t>
            </a:r>
            <a:r>
              <a:rPr lang="en-US" b="1" err="1"/>
              <a:t>học</a:t>
            </a:r>
            <a:r>
              <a:rPr lang="en-US" b="1"/>
              <a:t> </a:t>
            </a:r>
            <a:r>
              <a:rPr lang="en-US" b="1" err="1"/>
              <a:t>tập</a:t>
            </a:r>
            <a:r>
              <a:rPr lang="en-US" b="1" smtClean="0"/>
              <a:t>:</a:t>
            </a:r>
            <a:r>
              <a:rPr lang="en-US" smtClean="0"/>
              <a:t> </a:t>
            </a:r>
            <a:r>
              <a:rPr lang="en-US" err="1"/>
              <a:t>Xem</a:t>
            </a:r>
            <a:r>
              <a:rPr lang="en-US"/>
              <a:t> </a:t>
            </a:r>
            <a:r>
              <a:rPr lang="en-US" err="1"/>
              <a:t>bảng</a:t>
            </a:r>
            <a:r>
              <a:rPr lang="en-US"/>
              <a:t> </a:t>
            </a:r>
            <a:r>
              <a:rPr lang="en-US" err="1"/>
              <a:t>điểm</a:t>
            </a:r>
            <a:r>
              <a:rPr lang="en-US"/>
              <a:t> chi </a:t>
            </a:r>
            <a:r>
              <a:rPr lang="en-US" err="1"/>
              <a:t>tiết</a:t>
            </a:r>
            <a:r>
              <a:rPr lang="en-US"/>
              <a:t>, </a:t>
            </a:r>
            <a:r>
              <a:rPr lang="en-US" err="1"/>
              <a:t>tự</a:t>
            </a:r>
            <a:r>
              <a:rPr lang="en-US"/>
              <a:t> </a:t>
            </a:r>
            <a:r>
              <a:rPr lang="en-US" err="1"/>
              <a:t>động</a:t>
            </a:r>
            <a:r>
              <a:rPr lang="en-US"/>
              <a:t> </a:t>
            </a:r>
            <a:r>
              <a:rPr lang="en-US" err="1"/>
              <a:t>tính</a:t>
            </a:r>
            <a:r>
              <a:rPr lang="en-US"/>
              <a:t> </a:t>
            </a:r>
            <a:r>
              <a:rPr lang="en-US" err="1"/>
              <a:t>điểm</a:t>
            </a:r>
            <a:r>
              <a:rPr lang="en-US"/>
              <a:t> GPA </a:t>
            </a:r>
            <a:r>
              <a:rPr lang="en-US" err="1"/>
              <a:t>tích</a:t>
            </a:r>
            <a:r>
              <a:rPr lang="en-US"/>
              <a:t> </a:t>
            </a:r>
            <a:r>
              <a:rPr lang="en-US" err="1"/>
              <a:t>lũy, quản lí các môn không đạt</a:t>
            </a:r>
            <a:r>
              <a:rPr lang="en-US"/>
              <a:t>.</a:t>
            </a:r>
            <a:endParaRPr lang="en-US"/>
          </a:p>
          <a:p>
            <a:pPr lvl="1"/>
            <a:r>
              <a:rPr lang="en-US" b="1" err="1" smtClean="0"/>
              <a:t>Quản</a:t>
            </a:r>
            <a:r>
              <a:rPr lang="en-US" b="1" smtClean="0"/>
              <a:t> </a:t>
            </a:r>
            <a:r>
              <a:rPr lang="en-US" b="1" err="1"/>
              <a:t>lý</a:t>
            </a:r>
            <a:r>
              <a:rPr lang="en-US" b="1"/>
              <a:t> </a:t>
            </a:r>
            <a:r>
              <a:rPr lang="en-US" b="1" err="1" smtClean="0"/>
              <a:t>học</a:t>
            </a:r>
            <a:r>
              <a:rPr lang="en-US" b="1" smtClean="0"/>
              <a:t> </a:t>
            </a:r>
            <a:r>
              <a:rPr lang="en-US" b="1" err="1" smtClean="0"/>
              <a:t>phí</a:t>
            </a:r>
            <a:r>
              <a:rPr lang="en-US" b="1" smtClean="0"/>
              <a:t>:</a:t>
            </a:r>
            <a:r>
              <a:rPr lang="en-US" smtClean="0"/>
              <a:t> </a:t>
            </a:r>
            <a:r>
              <a:rPr lang="en-US" err="1"/>
              <a:t>Tra</a:t>
            </a:r>
            <a:r>
              <a:rPr lang="en-US"/>
              <a:t> </a:t>
            </a:r>
            <a:r>
              <a:rPr lang="en-US" err="1"/>
              <a:t>cứu</a:t>
            </a:r>
            <a:r>
              <a:rPr lang="en-US"/>
              <a:t> </a:t>
            </a:r>
            <a:r>
              <a:rPr lang="en-US" err="1"/>
              <a:t>công</a:t>
            </a:r>
            <a:r>
              <a:rPr lang="en-US"/>
              <a:t> </a:t>
            </a:r>
            <a:r>
              <a:rPr lang="en-US" err="1"/>
              <a:t>nợ</a:t>
            </a:r>
            <a:r>
              <a:rPr lang="en-US"/>
              <a:t>, </a:t>
            </a:r>
            <a:r>
              <a:rPr lang="en-US" err="1"/>
              <a:t>xem</a:t>
            </a:r>
            <a:r>
              <a:rPr lang="en-US"/>
              <a:t> chi </a:t>
            </a:r>
            <a:r>
              <a:rPr lang="en-US" err="1"/>
              <a:t>tiết</a:t>
            </a:r>
            <a:r>
              <a:rPr lang="en-US"/>
              <a:t> </a:t>
            </a:r>
            <a:r>
              <a:rPr lang="en-US" err="1"/>
              <a:t>học</a:t>
            </a:r>
            <a:r>
              <a:rPr lang="en-US"/>
              <a:t> </a:t>
            </a:r>
            <a:r>
              <a:rPr lang="en-US" err="1"/>
              <a:t>phí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thực</a:t>
            </a:r>
            <a:r>
              <a:rPr lang="en-US"/>
              <a:t> </a:t>
            </a:r>
            <a:r>
              <a:rPr lang="en-US" err="1"/>
              <a:t>hiện</a:t>
            </a:r>
            <a:r>
              <a:rPr lang="en-US"/>
              <a:t> </a:t>
            </a:r>
            <a:r>
              <a:rPr lang="en-US" err="1"/>
              <a:t>đóng</a:t>
            </a:r>
            <a:r>
              <a:rPr lang="en-US"/>
              <a:t> </a:t>
            </a:r>
            <a:r>
              <a:rPr lang="en-US" err="1"/>
              <a:t>tiền</a:t>
            </a:r>
            <a:r>
              <a:rPr lang="en-US"/>
              <a:t> trực tiếp / </a:t>
            </a:r>
            <a:r>
              <a:rPr lang="en-US" err="1"/>
              <a:t>trực</a:t>
            </a:r>
            <a:r>
              <a:rPr lang="en-US"/>
              <a:t> </a:t>
            </a:r>
            <a:r>
              <a:rPr lang="en-US" err="1"/>
              <a:t>tuyến</a:t>
            </a:r>
            <a:r>
              <a:rPr lang="en-US"/>
              <a:t>.</a:t>
            </a:r>
            <a:endParaRPr lang="en-US"/>
          </a:p>
          <a:p>
            <a:pPr lvl="1"/>
            <a:endParaRPr lang="en-US" altLang="en-US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09600" y="6430963"/>
            <a:ext cx="3505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 i="1" smtClean="0">
                <a:solidFill>
                  <a:srgbClr val="000066"/>
                </a:solidFill>
              </a:rPr>
              <a:t>motphutcantho.com</a:t>
            </a:r>
            <a:endParaRPr lang="en-US" altLang="en-US" sz="1200" b="1" i="1">
              <a:solidFill>
                <a:srgbClr val="00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PHÂN CÔNG </a:t>
            </a:r>
            <a:r>
              <a:rPr lang="en-US" err="1"/>
              <a:t>CÔNG</a:t>
            </a:r>
            <a:r>
              <a:rPr lang="en-US"/>
              <a:t> </a:t>
            </a:r>
            <a:r>
              <a:rPr lang="en-US" smtClean="0"/>
              <a:t>VIỆC</a:t>
            </a:r>
            <a:endParaRPr lang="en-US" altLang="en-US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09600" y="6430963"/>
            <a:ext cx="3505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 i="1" smtClean="0">
                <a:solidFill>
                  <a:srgbClr val="000066"/>
                </a:solidFill>
              </a:rPr>
              <a:t>motphutcantho.com</a:t>
            </a:r>
            <a:endParaRPr lang="en-US" altLang="en-US" sz="1200" b="1" i="1">
              <a:solidFill>
                <a:srgbClr val="000066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04800" y="2057400"/>
          <a:ext cx="8229600" cy="39304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819400"/>
                <a:gridCol w="3124200"/>
              </a:tblGrid>
              <a:tr h="76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kern="120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Sinh</a:t>
                      </a:r>
                      <a:r>
                        <a:rPr lang="en-US" sz="2000" b="1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1" kern="120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viên</a:t>
                      </a:r>
                      <a:endParaRPr lang="en-US" sz="2000" b="1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kern="120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Nhiệm</a:t>
                      </a:r>
                      <a:r>
                        <a:rPr lang="en-US" sz="2000" b="1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1" kern="120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vụ</a:t>
                      </a:r>
                      <a:r>
                        <a:rPr lang="en-US" sz="2000" b="1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1" kern="120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chính</a:t>
                      </a:r>
                      <a:r>
                        <a:rPr lang="en-US" sz="2000" b="1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2000" b="1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kern="120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Kỹ</a:t>
                      </a:r>
                      <a:r>
                        <a:rPr lang="en-US" sz="2000" b="1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1" kern="120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thuật</a:t>
                      </a:r>
                      <a:r>
                        <a:rPr lang="en-US" sz="2000" b="1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SQL </a:t>
                      </a:r>
                      <a:r>
                        <a:rPr lang="en-US" sz="2000" b="1" kern="120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phụ</a:t>
                      </a:r>
                      <a:r>
                        <a:rPr lang="en-US" sz="2000" b="1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1" kern="120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trách</a:t>
                      </a:r>
                      <a:endParaRPr lang="en-US" sz="2000" b="1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43106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Lê</a:t>
                      </a:r>
                      <a:r>
                        <a:rPr lang="en-US" sz="20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Hoàng</a:t>
                      </a:r>
                      <a:r>
                        <a:rPr lang="en-US" sz="20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Nguyên</a:t>
                      </a:r>
                      <a:endParaRPr lang="en-US" sz="2000" b="0" i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vi-VN" sz="1800" b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Xây dựng hệ thống khung, Quản lý danh mục, Hồ sơ nhân sự và nghiệp vụ Giảng viên.</a:t>
                      </a:r>
                      <a:endParaRPr lang="vi-VN" sz="1800" b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vi-VN" sz="1800" b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CRUD, Stored Procedure báo cáo đào tạo, Hệ thống Menu điều hướng, Bảo mật đăng nhập.</a:t>
                      </a:r>
                      <a:endParaRPr lang="vi-VN" sz="1800" b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43106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Trịnh</a:t>
                      </a:r>
                      <a:r>
                        <a:rPr lang="en-US" sz="20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Minh </a:t>
                      </a:r>
                      <a:r>
                        <a:rPr lang="en-US" sz="20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Vĩ</a:t>
                      </a:r>
                      <a:endParaRPr lang="en-US" sz="2000" b="0" i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20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vi-VN" sz="1800" b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Xây dựng hệ thống khung, </a:t>
                      </a:r>
                      <a:r>
                        <a:rPr lang="en-US" sz="1800" b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Xử </a:t>
                      </a:r>
                      <a:r>
                        <a:rPr lang="en-US" sz="1800" b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lý</a:t>
                      </a:r>
                      <a:r>
                        <a:rPr lang="en-US" sz="1800" b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các</a:t>
                      </a:r>
                      <a:r>
                        <a:rPr lang="en-US" sz="1800" b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nghiệp</a:t>
                      </a:r>
                      <a:r>
                        <a:rPr lang="en-US" sz="1800" b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vụ</a:t>
                      </a:r>
                      <a:r>
                        <a:rPr lang="en-US" sz="1800" b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Tài</a:t>
                      </a:r>
                      <a:r>
                        <a:rPr lang="en-US" sz="1800" b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chính</a:t>
                      </a:r>
                      <a:r>
                        <a:rPr lang="en-US" sz="1800" b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1800" b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Đăng</a:t>
                      </a:r>
                      <a:r>
                        <a:rPr lang="en-US" sz="1800" b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ký</a:t>
                      </a:r>
                      <a:r>
                        <a:rPr lang="en-US" sz="1800" b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học</a:t>
                      </a:r>
                      <a:r>
                        <a:rPr lang="en-US" sz="1800" b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vụ</a:t>
                      </a:r>
                      <a:r>
                        <a:rPr lang="en-US" sz="1800" b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sz="1800" b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Triển</a:t>
                      </a:r>
                      <a:r>
                        <a:rPr lang="en-US" sz="1800" b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khai</a:t>
                      </a:r>
                      <a:r>
                        <a:rPr lang="en-US" sz="1800" b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logic </a:t>
                      </a:r>
                      <a:r>
                        <a:rPr lang="en-US" sz="1800" b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luồng</a:t>
                      </a:r>
                      <a:r>
                        <a:rPr lang="en-US" sz="1800" b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tiền</a:t>
                      </a:r>
                      <a:r>
                        <a:rPr lang="en-US" sz="1800" b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bạc</a:t>
                      </a:r>
                      <a:r>
                        <a:rPr lang="en-US" sz="1800" b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800" b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Transaction (Đăng ký,Hủy đăng ký, Đóng học phí), Stored Function (GPA, Công nợ,...), Procedure tài chính.</a:t>
                      </a:r>
                      <a:endParaRPr lang="en-US" sz="1800" b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THIẾT KẾ CƠ SỞ </a:t>
            </a:r>
            <a:r>
              <a:rPr lang="vi-VN"/>
              <a:t>DỮ </a:t>
            </a:r>
            <a:r>
              <a:rPr lang="vi-VN" smtClean="0"/>
              <a:t>LIỆU</a:t>
            </a:r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33538"/>
            <a:ext cx="8077200" cy="4767262"/>
          </a:xfrm>
        </p:spPr>
        <p:txBody>
          <a:bodyPr/>
          <a:lstStyle/>
          <a:p>
            <a:endParaRPr lang="en-US" altLang="en-US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09600" y="6430963"/>
            <a:ext cx="3505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 i="1" smtClean="0">
                <a:solidFill>
                  <a:srgbClr val="000066"/>
                </a:solidFill>
              </a:rPr>
              <a:t>motphutcantho.com</a:t>
            </a:r>
            <a:endParaRPr lang="en-US" altLang="en-US" sz="1200" b="1" i="1">
              <a:solidFill>
                <a:srgbClr val="00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STORED </a:t>
            </a:r>
            <a:r>
              <a:rPr lang="en-US" smtClean="0"/>
              <a:t>OBJECTS &amp; LOGIC</a:t>
            </a:r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33538"/>
            <a:ext cx="8077200" cy="4767262"/>
          </a:xfrm>
        </p:spPr>
        <p:txBody>
          <a:bodyPr/>
          <a:lstStyle/>
          <a:p>
            <a:r>
              <a:rPr lang="vi-VN" b="1"/>
              <a:t>Giao dịch (Transactions) - Xử lý Backend Java:</a:t>
            </a:r>
            <a:endParaRPr lang="vi-VN"/>
          </a:p>
          <a:p>
            <a:pPr marL="457200" lvl="1" indent="0">
              <a:buNone/>
            </a:pPr>
            <a:r>
              <a:rPr lang="en-US" altLang="en-US"/>
              <a:t>Transaction </a:t>
            </a:r>
            <a:r>
              <a:rPr lang="en-US" altLang="en-US"/>
              <a:t>Đă</a:t>
            </a:r>
            <a:r>
              <a:rPr lang="en-US" altLang="en-US"/>
              <a:t>ng k</a:t>
            </a:r>
            <a:r>
              <a:rPr lang="en-US" altLang="en-US"/>
              <a:t>ý</a:t>
            </a:r>
            <a:r>
              <a:rPr lang="en-US" altLang="en-US"/>
              <a:t> học phần:</a:t>
            </a:r>
            <a:endParaRPr lang="en-US" altLang="en-US"/>
          </a:p>
          <a:p>
            <a:pPr marL="457200" lvl="2" indent="457200">
              <a:buNone/>
            </a:pPr>
            <a:r>
              <a:rPr lang="en-US" altLang="en-US" sz="2600">
                <a:sym typeface="+mn-ea"/>
              </a:rPr>
              <a:t>Thực </a:t>
            </a:r>
            <a:r>
              <a:rPr lang="en-US" altLang="en-US">
                <a:sym typeface="+mn-ea"/>
              </a:rPr>
              <a:t>hiện các bước sau:</a:t>
            </a:r>
            <a:endParaRPr lang="en-US" altLang="en-US"/>
          </a:p>
          <a:p>
            <a:pPr lvl="2"/>
            <a:r>
              <a:rPr lang="en-US" altLang="en-US"/>
              <a:t>Kiểm tra s</a:t>
            </a:r>
            <a:r>
              <a:rPr lang="en-US" altLang="en-US"/>
              <a:t>ĩ</a:t>
            </a:r>
            <a:r>
              <a:rPr lang="en-US" altLang="en-US"/>
              <a:t> số lớp học phần</a:t>
            </a:r>
            <a:endParaRPr lang="en-US" altLang="en-US"/>
          </a:p>
          <a:p>
            <a:pPr lvl="2"/>
            <a:r>
              <a:rPr lang="en-US" altLang="en-US"/>
              <a:t>Thêm </a:t>
            </a:r>
            <a:r>
              <a:rPr lang="en-US" altLang="en-US"/>
              <a:t>đă</a:t>
            </a:r>
            <a:r>
              <a:rPr lang="en-US" altLang="en-US"/>
              <a:t>ng k</a:t>
            </a:r>
            <a:r>
              <a:rPr lang="en-US" altLang="en-US"/>
              <a:t>ý</a:t>
            </a:r>
            <a:r>
              <a:rPr lang="en-US" altLang="en-US"/>
              <a:t> vào bảng DIEM</a:t>
            </a:r>
            <a:endParaRPr lang="en-US" altLang="en-US"/>
          </a:p>
          <a:p>
            <a:pPr lvl="2"/>
            <a:r>
              <a:rPr lang="en-US" altLang="en-US"/>
              <a:t>Cập nhật học phí (nếu có)</a:t>
            </a:r>
            <a:endParaRPr lang="en-US" altLang="en-US"/>
          </a:p>
          <a:p>
            <a:pPr marL="457200" lvl="1" indent="457200">
              <a:buNone/>
            </a:pPr>
            <a:r>
              <a:rPr lang="en-US" altLang="en-US"/>
              <a:t>Nếu có lỗi, hệ thống sẽ ROLLBACK </a:t>
            </a:r>
            <a:r>
              <a:rPr lang="en-US" altLang="en-US"/>
              <a:t>đ</a:t>
            </a:r>
            <a:r>
              <a:rPr lang="en-US" altLang="en-US"/>
              <a:t>ể </a:t>
            </a:r>
            <a:r>
              <a:rPr lang="en-US" altLang="en-US"/>
              <a:t>đ</a:t>
            </a:r>
            <a:r>
              <a:rPr lang="en-US" altLang="en-US"/>
              <a:t>ảm bảo dữ liệu nhất quán.</a:t>
            </a:r>
            <a:endParaRPr lang="en-US" altLang="en-US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09600" y="6430963"/>
            <a:ext cx="3505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 i="1" smtClean="0">
                <a:solidFill>
                  <a:srgbClr val="000066"/>
                </a:solidFill>
              </a:rPr>
              <a:t>motphutcantho.com</a:t>
            </a:r>
            <a:endParaRPr lang="en-US" altLang="en-US" sz="1200" b="1" i="1">
              <a:solidFill>
                <a:srgbClr val="00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STORED </a:t>
            </a:r>
            <a:r>
              <a:rPr lang="en-US" smtClean="0">
                <a:sym typeface="+mn-ea"/>
              </a:rPr>
              <a:t>OBJECTS &amp; LOGIC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vi-VN" b="1">
                <a:sym typeface="+mn-ea"/>
              </a:rPr>
              <a:t>Giao dịch (Transactions) - Xử lý Backend Java:</a:t>
            </a:r>
            <a:endParaRPr lang="vi-VN" b="1">
              <a:sym typeface="+mn-ea"/>
            </a:endParaRPr>
          </a:p>
          <a:p>
            <a:pPr marL="0" indent="0">
              <a:buNone/>
            </a:pPr>
            <a:r>
              <a:rPr lang="en-US" altLang="en-US" sz="2600" b="1"/>
              <a:t>Transaction Hủy </a:t>
            </a:r>
            <a:r>
              <a:rPr lang="en-US" altLang="en-US" sz="2600" b="1"/>
              <a:t>đă</a:t>
            </a:r>
            <a:r>
              <a:rPr lang="en-US" altLang="en-US" sz="2600" b="1"/>
              <a:t>ng k</a:t>
            </a:r>
            <a:r>
              <a:rPr lang="en-US" altLang="en-US" sz="2600" b="1"/>
              <a:t>ý</a:t>
            </a:r>
            <a:r>
              <a:rPr lang="en-US" altLang="en-US" sz="2600" b="1"/>
              <a:t> học phần</a:t>
            </a:r>
            <a:r>
              <a:rPr lang="en-US" altLang="en-US" sz="2600"/>
              <a:t>:</a:t>
            </a:r>
            <a:endParaRPr lang="en-US" altLang="en-US" sz="2600"/>
          </a:p>
          <a:p>
            <a:pPr marL="0" lvl="1" indent="457200">
              <a:buNone/>
            </a:pPr>
            <a:r>
              <a:rPr lang="en-US" altLang="en-US">
                <a:sym typeface="+mn-ea"/>
              </a:rPr>
              <a:t>Thực hiện các bước sau:</a:t>
            </a:r>
            <a:endParaRPr lang="en-US" altLang="en-US" sz="2600"/>
          </a:p>
          <a:p>
            <a:pPr marL="1143000" lvl="3" indent="-457200">
              <a:buFont typeface="Arial" panose="020B0604020202020204" pitchFamily="34" charset="0"/>
              <a:buChar char="•"/>
            </a:pPr>
            <a:r>
              <a:rPr lang="en-US" altLang="en-US" sz="2600"/>
              <a:t>Xóa </a:t>
            </a:r>
            <a:r>
              <a:rPr lang="en-US" altLang="en-US" sz="2600"/>
              <a:t>đă</a:t>
            </a:r>
            <a:r>
              <a:rPr lang="en-US" altLang="en-US" sz="2600"/>
              <a:t>ng k</a:t>
            </a:r>
            <a:r>
              <a:rPr lang="en-US" altLang="en-US" sz="2600"/>
              <a:t>ý</a:t>
            </a:r>
            <a:r>
              <a:rPr lang="en-US" altLang="en-US" sz="2600"/>
              <a:t> trong bảng DIEM</a:t>
            </a:r>
            <a:endParaRPr lang="en-US" altLang="en-US" sz="2600"/>
          </a:p>
          <a:p>
            <a:pPr marL="1143000" lvl="3" indent="-457200">
              <a:buFont typeface="Arial" panose="020B0604020202020204" pitchFamily="34" charset="0"/>
              <a:buChar char="•"/>
            </a:pPr>
            <a:r>
              <a:rPr lang="en-US" altLang="en-US" sz="2600"/>
              <a:t>(Tùy chọn) Cập nhật lại học phí</a:t>
            </a:r>
            <a:endParaRPr lang="en-US" altLang="en-US" sz="2600"/>
          </a:p>
          <a:p>
            <a:pPr marL="685800" lvl="3" indent="0">
              <a:buNone/>
            </a:pPr>
            <a:r>
              <a:rPr lang="en-US" altLang="en-US" sz="2600"/>
              <a:t>Nếu có lỗi, hệ thống sẽ ROLLBACK </a:t>
            </a:r>
            <a:r>
              <a:rPr lang="en-US" altLang="en-US" sz="2600"/>
              <a:t>đ</a:t>
            </a:r>
            <a:r>
              <a:rPr lang="en-US" altLang="en-US" sz="2600"/>
              <a:t>ể </a:t>
            </a:r>
            <a:r>
              <a:rPr lang="en-US" altLang="en-US" sz="2600"/>
              <a:t>đ</a:t>
            </a:r>
            <a:r>
              <a:rPr lang="en-US" altLang="en-US" sz="2600"/>
              <a:t>ảm bảo dữ liệu nhất quá</a:t>
            </a:r>
            <a:endParaRPr lang="en-US" altLang="en-US" sz="2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STORED </a:t>
            </a:r>
            <a:r>
              <a:rPr lang="en-US" smtClean="0">
                <a:sym typeface="+mn-ea"/>
              </a:rPr>
              <a:t>OBJECTS &amp; LOGIC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pPr lvl="1">
              <a:buFont typeface="Arial" panose="020B0604020202020204" pitchFamily="34" charset="0"/>
              <a:buChar char="•"/>
            </a:pPr>
            <a:r>
              <a:rPr lang="vi-VN" sz="2900" b="1">
                <a:sym typeface="+mn-ea"/>
              </a:rPr>
              <a:t>Giao </a:t>
            </a:r>
            <a:r>
              <a:rPr lang="vi-VN" b="1">
                <a:sym typeface="+mn-ea"/>
              </a:rPr>
              <a:t>dịch (Transactions) - Xử lý Backend Java:</a:t>
            </a:r>
            <a:endParaRPr lang="en-US" altLang="en-US" b="1"/>
          </a:p>
          <a:p>
            <a:pPr marL="457200" lvl="1" indent="0">
              <a:buNone/>
            </a:pPr>
            <a:r>
              <a:rPr lang="en-US" altLang="en-US" b="1"/>
              <a:t>Transaction </a:t>
            </a:r>
            <a:r>
              <a:rPr lang="en-US" altLang="en-US" b="1"/>
              <a:t>Đ</a:t>
            </a:r>
            <a:r>
              <a:rPr lang="en-US" altLang="en-US" b="1"/>
              <a:t>óng tiền học phí:</a:t>
            </a:r>
            <a:endParaRPr lang="en-US" altLang="en-US" b="1"/>
          </a:p>
          <a:p>
            <a:pPr marL="457200" lvl="1" indent="457200">
              <a:buNone/>
            </a:pPr>
            <a:r>
              <a:rPr lang="en-US" altLang="en-US"/>
              <a:t>Thực hiện các b</a:t>
            </a:r>
            <a:r>
              <a:rPr lang="en-US" altLang="en-US"/>
              <a:t>ư</a:t>
            </a:r>
            <a:r>
              <a:rPr lang="en-US" altLang="en-US"/>
              <a:t>ớc sau:</a:t>
            </a:r>
            <a:endParaRPr lang="en-US" altLang="en-US"/>
          </a:p>
          <a:p>
            <a:pPr lvl="2"/>
            <a:r>
              <a:rPr lang="en-US" altLang="en-US"/>
              <a:t>Ghi nhận thông tin thanh toán vào bảng PHIEU_THU</a:t>
            </a:r>
            <a:endParaRPr lang="en-US" altLang="en-US"/>
          </a:p>
          <a:p>
            <a:pPr lvl="2"/>
            <a:r>
              <a:rPr lang="en-US" altLang="en-US"/>
              <a:t>Cập nhật số tiền </a:t>
            </a:r>
            <a:r>
              <a:rPr lang="en-US" altLang="en-US"/>
              <a:t>đ</a:t>
            </a:r>
            <a:r>
              <a:rPr lang="en-US" altLang="en-US"/>
              <a:t>ã </a:t>
            </a:r>
            <a:r>
              <a:rPr lang="en-US" altLang="en-US"/>
              <a:t>đ</a:t>
            </a:r>
            <a:r>
              <a:rPr lang="en-US" altLang="en-US"/>
              <a:t>óng (DaDong) trong bảng HOC_PHI</a:t>
            </a:r>
            <a:endParaRPr lang="en-US" altLang="en-US"/>
          </a:p>
          <a:p>
            <a:pPr lvl="2"/>
            <a:r>
              <a:rPr lang="en-US" altLang="en-US"/>
              <a:t>Cập nhật trạng thái học phí (TrangThai) dựa trên số tiền </a:t>
            </a:r>
            <a:r>
              <a:rPr lang="en-US" altLang="en-US"/>
              <a:t>đ</a:t>
            </a:r>
            <a:r>
              <a:rPr lang="en-US" altLang="en-US"/>
              <a:t>ã </a:t>
            </a:r>
            <a:r>
              <a:rPr lang="en-US" altLang="en-US"/>
              <a:t>đ</a:t>
            </a:r>
            <a:r>
              <a:rPr lang="en-US" altLang="en-US"/>
              <a:t>óng và tổng tiền</a:t>
            </a:r>
            <a:endParaRPr lang="en-US" altLang="en-US"/>
          </a:p>
          <a:p>
            <a:pPr marL="914400" lvl="2" indent="0">
              <a:buNone/>
            </a:pPr>
            <a:r>
              <a:rPr lang="en-US" altLang="en-US" sz="2600"/>
              <a:t>Nếu có lỗi hệ thống sẽ ROLLBACK để đảm bảo dữ liệu chính xác</a:t>
            </a:r>
            <a:endParaRPr lang="en-US" altLang="en-US" sz="2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STORED OBJECTS &amp; LOGIC</a:t>
            </a:r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33538"/>
            <a:ext cx="8077200" cy="4767262"/>
          </a:xfrm>
        </p:spPr>
        <p:txBody>
          <a:bodyPr/>
          <a:lstStyle/>
          <a:p>
            <a:r>
              <a:rPr lang="vi-VN" b="1"/>
              <a:t>Thủ tục lưu trữ (Stored Procedures):</a:t>
            </a:r>
            <a:endParaRPr lang="vi-VN"/>
          </a:p>
          <a:p>
            <a:pPr lvl="1"/>
            <a:r>
              <a:rPr lang="vi-VN" smtClean="0"/>
              <a:t>`</a:t>
            </a:r>
            <a:r>
              <a:rPr lang="vi-VN"/>
              <a:t>sp_BaoCaoDoanhThuHocPhi`: Sử dụng `SUM`, `JOIN` và `GROUP BY` để thống kê tiền học phí thực thu theo từng Khoa.</a:t>
            </a:r>
            <a:endParaRPr lang="vi-VN"/>
          </a:p>
          <a:p>
            <a:pPr lvl="1"/>
            <a:r>
              <a:rPr lang="vi-VN" smtClean="0"/>
              <a:t>`</a:t>
            </a:r>
            <a:r>
              <a:rPr lang="vi-VN"/>
              <a:t>sp_BaoCaoChatLuong_LHP`: Tính toán tỷ lệ phần trăm Đậu/Rớt và tìm điểm cao nhất của một lớp.</a:t>
            </a:r>
            <a:endParaRPr lang="vi-VN"/>
          </a:p>
          <a:p>
            <a:pPr lvl="1"/>
            <a:r>
              <a:rPr lang="vi-VN" smtClean="0"/>
              <a:t>`</a:t>
            </a:r>
            <a:r>
              <a:rPr lang="vi-VN"/>
              <a:t>sp_ThongKeSVNoHocPhi`: Lọc danh sách sinh viên chưa hoàn thành học phí trong kỳ để gửi thông báo.</a:t>
            </a:r>
            <a:endParaRPr lang="vi-VN"/>
          </a:p>
          <a:p>
            <a:endParaRPr lang="en-US" altLang="en-US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09600" y="6430963"/>
            <a:ext cx="3505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 i="1" smtClean="0">
                <a:solidFill>
                  <a:srgbClr val="000066"/>
                </a:solidFill>
              </a:rPr>
              <a:t>motphutcantho.com</a:t>
            </a:r>
            <a:endParaRPr lang="en-US" altLang="en-US" sz="1200" b="1" i="1">
              <a:solidFill>
                <a:srgbClr val="00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82575"/>
            <a:ext cx="6858000" cy="944563"/>
          </a:xfrm>
        </p:spPr>
        <p:txBody>
          <a:bodyPr/>
          <a:lstStyle/>
          <a:p>
            <a:r>
              <a:rPr lang="en-US"/>
              <a:t>STORED OBJECTS &amp; LOGIC</a:t>
            </a:r>
            <a:endParaRPr lang="en-US" b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33538"/>
            <a:ext cx="8077200" cy="4767262"/>
          </a:xfrm>
        </p:spPr>
        <p:txBody>
          <a:bodyPr/>
          <a:lstStyle/>
          <a:p>
            <a:r>
              <a:rPr lang="en-US" b="1"/>
              <a:t>Hàm tự định nghĩa (Stored Functions):</a:t>
            </a:r>
            <a:endParaRPr lang="en-US"/>
          </a:p>
          <a:p>
            <a:pPr lvl="1"/>
            <a:r>
              <a:rPr lang="en-US" smtClean="0"/>
              <a:t>`</a:t>
            </a:r>
            <a:r>
              <a:rPr lang="en-US"/>
              <a:t>func_TinhGPA(mssv)`: Duyệt qua bảng điểm, tính trung bình có trọng số theo số tín chỉ của từng môn học.</a:t>
            </a:r>
            <a:endParaRPr lang="en-US"/>
          </a:p>
          <a:p>
            <a:pPr lvl="1"/>
            <a:r>
              <a:rPr lang="en-US" smtClean="0"/>
              <a:t>`func_TinhTienNo(mssv</a:t>
            </a:r>
            <a:r>
              <a:rPr lang="en-US"/>
              <a:t>, maHK)`: Trả về kết quả (Tổng phải nộp - Tổng đã đóng) cho một sinh viên cụ thể.</a:t>
            </a:r>
            <a:endParaRPr lang="en-US"/>
          </a:p>
          <a:p>
            <a:endParaRPr lang="en-US" altLang="en-US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09600" y="6430963"/>
            <a:ext cx="3505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 i="1" smtClean="0">
                <a:solidFill>
                  <a:srgbClr val="000066"/>
                </a:solidFill>
              </a:rPr>
              <a:t>motphutcantho.com</a:t>
            </a:r>
            <a:endParaRPr lang="en-US" altLang="en-US" sz="1200" b="1" i="1">
              <a:solidFill>
                <a:srgbClr val="00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STORED OBJECTS &amp; LOGIC</a:t>
            </a:r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33538"/>
            <a:ext cx="8077200" cy="4767262"/>
          </a:xfrm>
        </p:spPr>
        <p:txBody>
          <a:bodyPr/>
          <a:lstStyle/>
          <a:p>
            <a:r>
              <a:rPr lang="vi-VN" b="1"/>
              <a:t>Trình kích hoạt (Triggers):</a:t>
            </a:r>
            <a:endParaRPr lang="vi-VN"/>
          </a:p>
          <a:p>
            <a:pPr lvl="1"/>
            <a:r>
              <a:rPr lang="vi-VN" smtClean="0"/>
              <a:t>`</a:t>
            </a:r>
            <a:r>
              <a:rPr lang="vi-VN"/>
              <a:t>trg_CapNhatHocPhi`: Tự động tính toán số tiền học phí phát sinh ngay khi sinh viên đăng ký môn học (Số tín chỉ * Đơn giá) và cộng vào bảng `HOC_PHI`</a:t>
            </a:r>
            <a:endParaRPr lang="vi-VN"/>
          </a:p>
          <a:p>
            <a:endParaRPr lang="en-US" altLang="en-US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09600" y="6430963"/>
            <a:ext cx="3505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 i="1" smtClean="0">
                <a:solidFill>
                  <a:srgbClr val="000066"/>
                </a:solidFill>
              </a:rPr>
              <a:t>motphutcantho.com</a:t>
            </a:r>
            <a:endParaRPr lang="en-US" altLang="en-US" sz="1200" b="1" i="1">
              <a:solidFill>
                <a:srgbClr val="00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33538"/>
            <a:ext cx="8077200" cy="4767262"/>
          </a:xfrm>
        </p:spPr>
        <p:txBody>
          <a:bodyPr/>
          <a:lstStyle/>
          <a:p>
            <a:endParaRPr lang="en-US" altLang="en-US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09600" y="6430963"/>
            <a:ext cx="3505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 i="1" smtClean="0">
                <a:solidFill>
                  <a:srgbClr val="000066"/>
                </a:solidFill>
              </a:rPr>
              <a:t>motphutcantho.com</a:t>
            </a:r>
            <a:endParaRPr lang="en-US" altLang="en-US" sz="1200" b="1" i="1">
              <a:solidFill>
                <a:srgbClr val="00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33538"/>
            <a:ext cx="8077200" cy="4767262"/>
          </a:xfrm>
        </p:spPr>
        <p:txBody>
          <a:bodyPr/>
          <a:lstStyle/>
          <a:p>
            <a:endParaRPr lang="en-US" altLang="en-US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09600" y="6430963"/>
            <a:ext cx="3505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 i="1" smtClean="0">
                <a:solidFill>
                  <a:srgbClr val="000066"/>
                </a:solidFill>
              </a:rPr>
              <a:t>motphutcantho.com</a:t>
            </a:r>
            <a:endParaRPr lang="en-US" altLang="en-US" sz="1200" b="1" i="1">
              <a:solidFill>
                <a:srgbClr val="00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33538"/>
            <a:ext cx="8077200" cy="4767262"/>
          </a:xfrm>
        </p:spPr>
        <p:txBody>
          <a:bodyPr/>
          <a:lstStyle/>
          <a:p>
            <a:endParaRPr lang="en-US" altLang="en-US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09600" y="6430963"/>
            <a:ext cx="3505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 i="1" smtClean="0">
                <a:solidFill>
                  <a:srgbClr val="000066"/>
                </a:solidFill>
              </a:rPr>
              <a:t>motphutcantho.com</a:t>
            </a:r>
            <a:endParaRPr lang="en-US" altLang="en-US" sz="1200" b="1" i="1">
              <a:solidFill>
                <a:srgbClr val="00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33538"/>
            <a:ext cx="8077200" cy="4767262"/>
          </a:xfrm>
        </p:spPr>
        <p:txBody>
          <a:bodyPr/>
          <a:lstStyle/>
          <a:p>
            <a:endParaRPr lang="en-US" altLang="en-US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09600" y="6430963"/>
            <a:ext cx="3505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 i="1" smtClean="0">
                <a:solidFill>
                  <a:srgbClr val="000066"/>
                </a:solidFill>
              </a:rPr>
              <a:t>motphutcantho.com</a:t>
            </a:r>
            <a:endParaRPr lang="en-US" altLang="en-US" sz="1200" b="1" i="1">
              <a:solidFill>
                <a:srgbClr val="00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33538"/>
            <a:ext cx="8077200" cy="4767262"/>
          </a:xfrm>
        </p:spPr>
        <p:txBody>
          <a:bodyPr/>
          <a:lstStyle/>
          <a:p>
            <a:endParaRPr lang="en-US" altLang="en-US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09600" y="6430963"/>
            <a:ext cx="3505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 i="1" smtClean="0">
                <a:solidFill>
                  <a:srgbClr val="000066"/>
                </a:solidFill>
              </a:rPr>
              <a:t>motphutcantho.com</a:t>
            </a:r>
            <a:endParaRPr lang="en-US" altLang="en-US" sz="1200" b="1" i="1">
              <a:solidFill>
                <a:srgbClr val="00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33538"/>
            <a:ext cx="8077200" cy="4767262"/>
          </a:xfrm>
        </p:spPr>
        <p:txBody>
          <a:bodyPr/>
          <a:lstStyle/>
          <a:p>
            <a:endParaRPr lang="en-US" altLang="en-US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09600" y="6430963"/>
            <a:ext cx="3505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 i="1" smtClean="0">
                <a:solidFill>
                  <a:srgbClr val="000066"/>
                </a:solidFill>
              </a:rPr>
              <a:t>motphutcantho.com</a:t>
            </a:r>
            <a:endParaRPr lang="en-US" altLang="en-US" sz="1200" b="1" i="1">
              <a:solidFill>
                <a:srgbClr val="00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33538"/>
            <a:ext cx="8077200" cy="4767262"/>
          </a:xfrm>
        </p:spPr>
        <p:txBody>
          <a:bodyPr/>
          <a:lstStyle/>
          <a:p>
            <a:endParaRPr lang="en-US" altLang="en-US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09600" y="6430963"/>
            <a:ext cx="3505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 i="1" smtClean="0">
                <a:solidFill>
                  <a:srgbClr val="000066"/>
                </a:solidFill>
              </a:rPr>
              <a:t>motphutcantho.com</a:t>
            </a:r>
            <a:endParaRPr lang="en-US" altLang="en-US" sz="1200" b="1" i="1">
              <a:solidFill>
                <a:srgbClr val="00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33538"/>
            <a:ext cx="8077200" cy="4767262"/>
          </a:xfrm>
        </p:spPr>
        <p:txBody>
          <a:bodyPr/>
          <a:lstStyle/>
          <a:p>
            <a:endParaRPr lang="en-US" altLang="en-US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09600" y="6430963"/>
            <a:ext cx="3505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 i="1" smtClean="0">
                <a:solidFill>
                  <a:srgbClr val="000066"/>
                </a:solidFill>
              </a:rPr>
              <a:t>motphutcantho.com</a:t>
            </a:r>
            <a:endParaRPr lang="en-US" altLang="en-US" sz="1200" b="1" i="1">
              <a:solidFill>
                <a:srgbClr val="00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373313"/>
            <a:ext cx="7924800" cy="2555875"/>
          </a:xfrm>
        </p:spPr>
        <p:txBody>
          <a:bodyPr/>
          <a:lstStyle/>
          <a:p>
            <a:pPr algn="ctr">
              <a:buFontTx/>
              <a:buNone/>
            </a:pPr>
            <a:endParaRPr lang="en-US" altLang="en-US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609600" y="6430963"/>
            <a:ext cx="3505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 i="1" smtClean="0">
                <a:solidFill>
                  <a:srgbClr val="000066"/>
                </a:solidFill>
              </a:rPr>
              <a:t>motphutcantho.com</a:t>
            </a:r>
            <a:endParaRPr lang="en-US" altLang="en-US" sz="1200" b="1" i="1">
              <a:solidFill>
                <a:srgbClr val="000066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5507" y="2133600"/>
            <a:ext cx="8345553" cy="23544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smtClean="0"/>
              <a:t>NHÓM GIAO LƯU SINH VIÊN, CỰU SINH VIÊN</a:t>
            </a:r>
            <a:endParaRPr lang="en-US" sz="2000" b="1" smtClean="0"/>
          </a:p>
          <a:p>
            <a:pPr algn="ctr"/>
            <a:endParaRPr lang="en-US" sz="2000" b="1" smtClean="0"/>
          </a:p>
          <a:p>
            <a:pPr algn="ctr"/>
            <a:r>
              <a:rPr lang="en-US" sz="2200" b="1" smtClean="0">
                <a:solidFill>
                  <a:srgbClr val="FF0000"/>
                </a:solidFill>
              </a:rPr>
              <a:t>CTU – CỘNG ĐỒNG SINH VIÊN TRƯỜNG ĐẠI HỌC CẦN THƠ</a:t>
            </a:r>
            <a:endParaRPr lang="en-US" sz="2200" b="1" smtClean="0">
              <a:solidFill>
                <a:srgbClr val="FF0000"/>
              </a:solidFill>
            </a:endParaRPr>
          </a:p>
          <a:p>
            <a:pPr algn="ctr"/>
            <a:endParaRPr lang="en-US" sz="2000" b="1" smtClean="0">
              <a:solidFill>
                <a:srgbClr val="FF0000"/>
              </a:solidFill>
            </a:endParaRPr>
          </a:p>
          <a:p>
            <a:pPr algn="ctr"/>
            <a:endParaRPr lang="en-US" sz="2000" b="1" smtClean="0">
              <a:solidFill>
                <a:srgbClr val="FF0000"/>
              </a:solidFill>
            </a:endParaRPr>
          </a:p>
          <a:p>
            <a:pPr algn="ctr"/>
            <a:endParaRPr lang="en-US" sz="2000" b="1">
              <a:solidFill>
                <a:srgbClr val="FF0000"/>
              </a:solidFill>
            </a:endParaRPr>
          </a:p>
          <a:p>
            <a:pPr algn="ctr"/>
            <a:r>
              <a:rPr lang="en-US" sz="2500" b="1" smtClean="0">
                <a:solidFill>
                  <a:srgbClr val="FF0000"/>
                </a:solidFill>
                <a:hlinkClick r:id="rId1"/>
              </a:rPr>
              <a:t>www.facebook.com/groups/daihoccantho.ctu</a:t>
            </a:r>
            <a:endParaRPr lang="en-US" sz="2500" b="1">
              <a:solidFill>
                <a:srgbClr val="FF0000"/>
              </a:solidFill>
            </a:endParaRPr>
          </a:p>
        </p:txBody>
      </p:sp>
      <p:sp>
        <p:nvSpPr>
          <p:cNvPr id="82" name="Text Box 5"/>
          <p:cNvSpPr txBox="1">
            <a:spLocks noChangeArrowheads="1"/>
          </p:cNvSpPr>
          <p:nvPr/>
        </p:nvSpPr>
        <p:spPr bwMode="auto">
          <a:xfrm>
            <a:off x="609600" y="6430963"/>
            <a:ext cx="35052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 i="1" smtClean="0">
                <a:solidFill>
                  <a:srgbClr val="000066"/>
                </a:solidFill>
              </a:rPr>
              <a:t>motphutcantho.com</a:t>
            </a:r>
            <a:endParaRPr lang="en-US" altLang="en-US" sz="1200" b="1" i="1">
              <a:solidFill>
                <a:srgbClr val="000066"/>
              </a:solidFill>
            </a:endParaRPr>
          </a:p>
        </p:txBody>
      </p:sp>
      <p:sp>
        <p:nvSpPr>
          <p:cNvPr id="6" name="Down Arrow 5"/>
          <p:cNvSpPr/>
          <p:nvPr/>
        </p:nvSpPr>
        <p:spPr>
          <a:xfrm>
            <a:off x="4183483" y="3276600"/>
            <a:ext cx="540917" cy="457200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3972</Words>
  <Application>WPS Presentation</Application>
  <PresentationFormat>On-screen Show (4:3)</PresentationFormat>
  <Paragraphs>174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Arial</vt:lpstr>
      <vt:lpstr>SimSun</vt:lpstr>
      <vt:lpstr>Wingdings</vt:lpstr>
      <vt:lpstr>Microsoft YaHei</vt:lpstr>
      <vt:lpstr>Arial Unicode MS</vt:lpstr>
      <vt:lpstr>Calibri</vt:lpstr>
      <vt:lpstr>Default Design</vt:lpstr>
      <vt:lpstr>HỆ THỐNG QUẢN LÝ SINH VIÊN</vt:lpstr>
      <vt:lpstr>THÔNG TIN CHUNG</vt:lpstr>
      <vt:lpstr>CHỨC NĂNG CỦA HỆ THỐNG</vt:lpstr>
      <vt:lpstr>CHỨC NĂNG CỦA HỆ THỐNG</vt:lpstr>
      <vt:lpstr>CHỨC NĂNG CỦA HỆ THỐNG</vt:lpstr>
      <vt:lpstr>CHỨC NĂNG CỦA HỆ THỐNG</vt:lpstr>
      <vt:lpstr>PHÂN CÔNG CÔNG VIỆC</vt:lpstr>
      <vt:lpstr>THIẾT KẾ CƠ SỞ DỮ LIỆU</vt:lpstr>
      <vt:lpstr>STORED OBJECTS &amp; LOGIC</vt:lpstr>
      <vt:lpstr>STORED OBJECTS &amp; LOGIC</vt:lpstr>
      <vt:lpstr>STORED OBJECTS &amp; LOGIC</vt:lpstr>
      <vt:lpstr>STORED OBJECTS &amp; LOGIC</vt:lpstr>
      <vt:lpstr>STORED OBJECTS &amp; LOGIC</vt:lpstr>
      <vt:lpstr>STORED OBJECTS &amp; LOGIC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CANTHO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LRC</dc:creator>
  <cp:lastModifiedBy>Trinh Minh Vi B2306600</cp:lastModifiedBy>
  <cp:revision>94</cp:revision>
  <dcterms:created xsi:type="dcterms:W3CDTF">2008-08-06T06:37:00Z</dcterms:created>
  <dcterms:modified xsi:type="dcterms:W3CDTF">2026-04-10T10:50:09Z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ADC916A4D6BD4782BBAEF7DFCB15887C_12</vt:lpwstr>
  </property>
  <property fmtid="{D5CDD505-2E9C-101B-9397-08002B2CF9AE}" pid="3" name="KSOProductBuildVer">
    <vt:lpwstr>1033-12.1.0.25242</vt:lpwstr>
  </property>
</Properties>
</file>