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3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62" r:id="rId23"/>
    <p:sldId id="264" r:id="rId2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33"/>
    <a:srgbClr val="9A7200"/>
    <a:srgbClr val="CC9900"/>
    <a:srgbClr val="000099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howGuides="1">
      <p:cViewPr varScale="1">
        <p:scale>
          <a:sx n="83" d="100"/>
          <a:sy n="83" d="100"/>
        </p:scale>
        <p:origin x="143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19138" y="2130425"/>
            <a:ext cx="77724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en-US" noProof="0"/>
              <a:t>Click to edit Master title style</a:t>
            </a:r>
            <a:endParaRPr lang="en-US" altLang="en-US" noProof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en-US" altLang="en-US" noProof="0"/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6096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89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6716713" y="6230938"/>
            <a:ext cx="2133600" cy="549275"/>
          </a:xfrm>
        </p:spPr>
        <p:txBody>
          <a:bodyPr/>
          <a:lstStyle>
            <a:lvl1pPr>
              <a:defRPr/>
            </a:lvl1pPr>
          </a:lstStyle>
          <a:p>
            <a:fld id="{A15EAB53-327E-4220-A7C8-79A6407182B7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4F63AB-74FF-4D4D-9C96-7E67E70BF8FF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F88ED3-DC84-4DB0-B233-29AE8689A18E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79D017-4D2B-4917-98EC-EFDC1350D1A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F7F60C-663B-45B5-8BAA-0CD5F56CC8F6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BD403-5F74-427A-8423-78614D45D9C1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445B6F-8FF7-4085-BE97-4B03885D15AA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5A644C7-8C57-4BC2-BD31-5EE7CB8540FD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64E658-6E24-430E-B2BE-9BADE501346F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4A5476-CA43-47FE-BA67-73FA2851AFC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82575"/>
            <a:ext cx="2057400" cy="6042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82575"/>
            <a:ext cx="6019800" cy="60420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DC5CE5-D93D-42E1-A365-D1BB034BB8AD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52600" y="282575"/>
            <a:ext cx="7086600" cy="94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altLang="en-US"/>
              <a:t>Click to edit Master title style</a:t>
            </a:r>
            <a:endParaRPr lang="en-US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33538"/>
            <a:ext cx="8229600" cy="4691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en-US"/>
              <a:t>Click to edit Master text styles</a:t>
            </a:r>
            <a:endParaRPr lang="en-US" altLang="en-US"/>
          </a:p>
          <a:p>
            <a:pPr lvl="1"/>
            <a:r>
              <a:rPr lang="en-US" altLang="en-US"/>
              <a:t>Second level</a:t>
            </a:r>
            <a:endParaRPr lang="en-US" altLang="en-US"/>
          </a:p>
          <a:p>
            <a:pPr lvl="2"/>
            <a:r>
              <a:rPr lang="en-US" altLang="en-US"/>
              <a:t>Third level</a:t>
            </a:r>
            <a:endParaRPr lang="en-US" altLang="en-US"/>
          </a:p>
          <a:p>
            <a:pPr lvl="3"/>
            <a:r>
              <a:rPr lang="en-US" altLang="en-US"/>
              <a:t>Fourth level</a:t>
            </a:r>
            <a:endParaRPr lang="en-US" altLang="en-US"/>
          </a:p>
          <a:p>
            <a:pPr lvl="4"/>
            <a:r>
              <a:rPr lang="en-US" altLang="en-US"/>
              <a:t>Fifth level</a:t>
            </a:r>
            <a:endParaRPr lang="en-US" altLang="en-US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78563"/>
            <a:ext cx="19812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719388" y="62833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226175"/>
            <a:ext cx="2133600" cy="554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306FFC55-A7E0-43C6-B48A-D297196E04B7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rgbClr val="996633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900" kern="1200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600" kern="1200">
          <a:solidFill>
            <a:srgbClr val="000066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200" kern="1200">
          <a:solidFill>
            <a:srgbClr val="000066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ern="1200">
          <a:solidFill>
            <a:srgbClr val="000066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ern="1200">
          <a:solidFill>
            <a:srgbClr val="0000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facebook.com/groups/daihoccantho.ct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19138" y="2130426"/>
            <a:ext cx="7772400" cy="963612"/>
          </a:xfrm>
        </p:spPr>
        <p:txBody>
          <a:bodyPr/>
          <a:lstStyle/>
          <a:p>
            <a:pPr algn="ctr"/>
            <a:r>
              <a:rPr lang="en-US" smtClean="0"/>
              <a:t>HỆ THỐNG QUẢN LÝ SINH VIÊN</a:t>
            </a:r>
            <a:endParaRPr lang="en-US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90600" y="3100965"/>
            <a:ext cx="7239000" cy="556635"/>
          </a:xfrm>
        </p:spPr>
        <p:txBody>
          <a:bodyPr/>
          <a:lstStyle/>
          <a:p>
            <a:r>
              <a:rPr lang="en-US" altLang="en-US" sz="2600" smtClean="0"/>
              <a:t>Báo cáo</a:t>
            </a:r>
            <a:r>
              <a:rPr lang="en-US" altLang="en-US" sz="2600" smtClean="0"/>
              <a:t> môn học: Quản trị dữ liệu – CT467</a:t>
            </a:r>
            <a:endParaRPr lang="en-US" altLang="en-US" sz="2600"/>
          </a:p>
        </p:txBody>
      </p:sp>
      <p:sp>
        <p:nvSpPr>
          <p:cNvPr id="2053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709902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2400" b="1" smtClean="0"/>
              <a:t>Thành viên nhóm:</a:t>
            </a:r>
            <a:endParaRPr lang="en-US" altLang="en-US" sz="2400" b="1" smtClean="0"/>
          </a:p>
          <a:p>
            <a:pPr algn="l"/>
            <a:r>
              <a:rPr lang="en-US" altLang="en-US" sz="2000" smtClean="0"/>
              <a:t>Lê Hoàng Nguyên – B2306564</a:t>
            </a:r>
            <a:endParaRPr lang="en-US" altLang="en-US" sz="2000" smtClean="0"/>
          </a:p>
          <a:p>
            <a:pPr algn="l"/>
            <a:r>
              <a:rPr lang="en-US" altLang="en-US" sz="2000" smtClean="0"/>
              <a:t>Trịnh Minh Vĩ – B2306600</a:t>
            </a:r>
            <a:endParaRPr lang="en-US" altLang="en-US" sz="200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4724400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en-US" sz="2400" b="1" smtClean="0"/>
              <a:t>Giáo viên hướng dẫn:</a:t>
            </a:r>
            <a:endParaRPr lang="en-US" altLang="en-US" sz="2400" b="1" smtClean="0"/>
          </a:p>
          <a:p>
            <a:pPr algn="r"/>
            <a:r>
              <a:rPr lang="en-US" altLang="en-US" sz="2000" smtClean="0"/>
              <a:t>Trần Công Án</a:t>
            </a:r>
            <a:endParaRPr lang="en-US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THÔNG TIN </a:t>
            </a:r>
            <a:r>
              <a:rPr lang="en-US" smtClean="0"/>
              <a:t>CHUNG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</a:t>
            </a:r>
            <a:r>
              <a:rPr lang="en-US" smtClean="0"/>
              <a:t>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/>
              <a:t>Hệ thống được thiết kế theo 3 phân hệ chính dựa trên vai trò người dùng:</a:t>
            </a:r>
            <a:endParaRPr lang="vi-VN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Admin:</a:t>
            </a:r>
            <a:endParaRPr lang="en-US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cấu trúc đào tạo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CRUD Khoa, Ngành, Lớp hành chính.</a:t>
            </a:r>
            <a:endParaRPr lang="vi-VN" sz="2400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khung chương trình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danh mục Môn học, số tín chỉ.</a:t>
            </a:r>
            <a:endParaRPr lang="vi-VN" sz="2400"/>
          </a:p>
          <a:p>
            <a:pPr lvl="1"/>
            <a:r>
              <a:rPr lang="vi-VN" sz="2400" b="1" smtClean="0"/>
              <a:t>Cấu </a:t>
            </a:r>
            <a:r>
              <a:rPr lang="vi-VN" sz="2400" b="1"/>
              <a:t>hình hệ </a:t>
            </a:r>
            <a:r>
              <a:rPr lang="vi-VN" sz="2400" b="1" smtClean="0"/>
              <a:t>thống:</a:t>
            </a:r>
            <a:r>
              <a:rPr lang="en-US" sz="2400" b="1" smtClean="0"/>
              <a:t> </a:t>
            </a:r>
            <a:r>
              <a:rPr lang="vi-VN" sz="2400" smtClean="0"/>
              <a:t>Quản </a:t>
            </a:r>
            <a:r>
              <a:rPr lang="vi-VN" sz="2400"/>
              <a:t>lý Học kỳ, thiết lập đơn giá tín chỉ theo năm học.</a:t>
            </a:r>
            <a:endParaRPr lang="vi-VN" sz="2400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hồ sơ nhân sự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thông tin Giảng viên, Sinh viên; tự động cấp tài khoản.</a:t>
            </a:r>
            <a:endParaRPr lang="vi-VN" sz="2400"/>
          </a:p>
          <a:p>
            <a:pPr lvl="1"/>
            <a:r>
              <a:rPr lang="vi-VN" sz="2400" b="1" smtClean="0"/>
              <a:t>Thống </a:t>
            </a:r>
            <a:r>
              <a:rPr lang="vi-VN" sz="2400" b="1"/>
              <a:t>kê &amp; Báo cáo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Xem báo cáo doanh thu học phí, danh sách nợ phí.</a:t>
            </a:r>
            <a:endParaRPr lang="vi-VN" sz="2400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vi-VN" b="1" smtClean="0"/>
              <a:t>Tra </a:t>
            </a:r>
            <a:r>
              <a:rPr lang="vi-VN" b="1"/>
              <a:t>cứu </a:t>
            </a:r>
            <a:r>
              <a:rPr lang="en-US" b="1" err="1" smtClean="0"/>
              <a:t>môn</a:t>
            </a:r>
            <a:r>
              <a:rPr lang="en-US" b="1" smtClean="0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phụ</a:t>
            </a:r>
            <a:r>
              <a:rPr lang="en-US" b="1" smtClean="0"/>
              <a:t> </a:t>
            </a:r>
            <a:r>
              <a:rPr lang="en-US" b="1" err="1" smtClean="0"/>
              <a:t>trách</a:t>
            </a:r>
            <a:r>
              <a:rPr lang="vi-VN" b="1" smtClean="0"/>
              <a:t>:</a:t>
            </a:r>
            <a:r>
              <a:rPr lang="vi-VN" smtClean="0"/>
              <a:t>Xem </a:t>
            </a:r>
            <a:r>
              <a:rPr lang="vi-VN"/>
              <a:t>danh sách các lớp học phần được phân công trong kỳ.</a:t>
            </a:r>
            <a:endParaRPr lang="vi-VN"/>
          </a:p>
          <a:p>
            <a:pPr lvl="1"/>
            <a:r>
              <a:rPr lang="vi-VN" b="1" smtClean="0"/>
              <a:t>Quản </a:t>
            </a:r>
            <a:r>
              <a:rPr lang="vi-VN" b="1"/>
              <a:t>lý điểm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Nhập điểm và cập nhật điểm số cho sinh viên trong lớp.</a:t>
            </a:r>
            <a:endParaRPr lang="vi-VN"/>
          </a:p>
          <a:p>
            <a:pPr lvl="1"/>
            <a:r>
              <a:rPr lang="vi-VN" b="1" smtClean="0"/>
              <a:t>Báo </a:t>
            </a:r>
            <a:r>
              <a:rPr lang="vi-VN" b="1"/>
              <a:t>cáo chất lượng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Xem thống kê tỷ lệ Đậu/Rớt của lớp phụ trách.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en-US" b="1" err="1" smtClean="0"/>
              <a:t>Đăng</a:t>
            </a:r>
            <a:r>
              <a:rPr lang="en-US" b="1" smtClean="0"/>
              <a:t> </a:t>
            </a:r>
            <a:r>
              <a:rPr lang="en-US" b="1" err="1"/>
              <a:t>ký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phần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Đăng</a:t>
            </a:r>
            <a:r>
              <a:rPr lang="en-US"/>
              <a:t> </a:t>
            </a:r>
            <a:r>
              <a:rPr lang="en-US" err="1"/>
              <a:t>ký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kỳ</a:t>
            </a:r>
            <a:r>
              <a:rPr lang="en-US"/>
              <a:t> </a:t>
            </a:r>
            <a:r>
              <a:rPr lang="en-US" err="1"/>
              <a:t>đang</a:t>
            </a:r>
            <a:r>
              <a:rPr lang="en-US"/>
              <a:t> </a:t>
            </a:r>
            <a:r>
              <a:rPr lang="en-US" err="1"/>
              <a:t>mở, hủy đăng ký môn học</a:t>
            </a:r>
            <a:r>
              <a:rPr lang="en-US"/>
              <a:t>.</a:t>
            </a:r>
            <a:endParaRPr lang="en-US"/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tập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Xem</a:t>
            </a:r>
            <a:r>
              <a:rPr lang="en-US"/>
              <a:t> </a:t>
            </a:r>
            <a:r>
              <a:rPr lang="en-US" err="1"/>
              <a:t>bảng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,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động</a:t>
            </a:r>
            <a:r>
              <a:rPr lang="en-US"/>
              <a:t> </a:t>
            </a:r>
            <a:r>
              <a:rPr lang="en-US" err="1"/>
              <a:t>tính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GPA </a:t>
            </a:r>
            <a:r>
              <a:rPr lang="en-US" err="1"/>
              <a:t>tích</a:t>
            </a:r>
            <a:r>
              <a:rPr lang="en-US"/>
              <a:t> </a:t>
            </a:r>
            <a:r>
              <a:rPr lang="en-US" err="1"/>
              <a:t>lũy, quản lí các môn không đạt</a:t>
            </a:r>
            <a:r>
              <a:rPr lang="en-US"/>
              <a:t>.</a:t>
            </a:r>
            <a:endParaRPr lang="en-US"/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phí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Tra</a:t>
            </a:r>
            <a:r>
              <a:rPr lang="en-US"/>
              <a:t> </a:t>
            </a:r>
            <a:r>
              <a:rPr lang="en-US" err="1"/>
              <a:t>cứu</a:t>
            </a:r>
            <a:r>
              <a:rPr lang="en-US"/>
              <a:t>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err="1"/>
              <a:t>nợ</a:t>
            </a:r>
            <a:r>
              <a:rPr lang="en-US"/>
              <a:t>, </a:t>
            </a:r>
            <a:r>
              <a:rPr lang="en-US" err="1"/>
              <a:t>xem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phí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thực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tiền</a:t>
            </a:r>
            <a:r>
              <a:rPr lang="en-US"/>
              <a:t> </a:t>
            </a:r>
            <a:r>
              <a:rPr lang="en-US" err="1"/>
              <a:t>trực</a:t>
            </a:r>
            <a:r>
              <a:rPr lang="en-US"/>
              <a:t> </a:t>
            </a:r>
            <a:r>
              <a:rPr lang="en-US" err="1"/>
              <a:t>tuyến</a:t>
            </a:r>
            <a:r>
              <a:rPr lang="en-US"/>
              <a:t>.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CÔNG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smtClean="0"/>
              <a:t>VIỆC</a:t>
            </a:r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4800" y="2057400"/>
          <a:ext cx="8229600" cy="3930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19400"/>
                <a:gridCol w="3124200"/>
              </a:tblGrid>
              <a:tr h="762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viên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Nhiệm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Kỹ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thuật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trách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Lê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Hoàng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Nguyên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Quản lý danh mục, Hồ sơ nhân sự và nghiệp vụ Giảng viên.</a:t>
                      </a:r>
                      <a:endParaRPr lang="vi-VN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CRUD, Stored Procedure báo cáo đào tạo, Hệ thống Menu điều hướng, Bảo mật đăng nhập.</a:t>
                      </a:r>
                      <a:endParaRPr lang="vi-VN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Trịnh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Minh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Vĩ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Xử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nghiệp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Tài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và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Đăng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học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Triển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logic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luồng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tiền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(Đăng ký, Đóng tiền), Stored Function (GPA, Công nợ), Procedure tài chính.</a:t>
                      </a:r>
                      <a:endParaRPr lang="en-US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THIẾT KẾ CƠ SỞ </a:t>
            </a:r>
            <a:r>
              <a:rPr lang="vi-VN"/>
              <a:t>DỮ </a:t>
            </a:r>
            <a:r>
              <a:rPr lang="vi-VN" smtClean="0"/>
              <a:t>LIỆU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</a:t>
            </a:r>
            <a:r>
              <a:rPr lang="en-US" smtClean="0"/>
              <a:t>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Giao dịch (Transactions) - Xử lý Backend Java:</a:t>
            </a:r>
            <a:endParaRPr lang="vi-VN"/>
          </a:p>
          <a:p>
            <a:pPr lvl="1"/>
            <a:r>
              <a:rPr lang="vi-VN" b="1" smtClean="0"/>
              <a:t>Transaction </a:t>
            </a:r>
            <a:r>
              <a:rPr lang="vi-VN" b="1"/>
              <a:t>Đăng ký học </a:t>
            </a:r>
            <a:r>
              <a:rPr lang="vi-VN" b="1"/>
              <a:t>phần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Thực hiện kiểm tra sĩ số lớp -&gt; INSERT bảng DIEM -&gt; Cập nhật tiền nợ. Nếu một bước lỗi, hệ thống sẽ `Rollback` để tránh dữ liệu ảo.</a:t>
            </a:r>
            <a:endParaRPr lang="vi-VN"/>
          </a:p>
          <a:p>
            <a:pPr lvl="1"/>
            <a:r>
              <a:rPr lang="vi-VN" b="1" smtClean="0"/>
              <a:t>Transaction </a:t>
            </a:r>
            <a:r>
              <a:rPr lang="vi-VN" b="1"/>
              <a:t>Đóng tiền học </a:t>
            </a:r>
            <a:r>
              <a:rPr lang="vi-VN" b="1"/>
              <a:t>phí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Ghi dữ liệu vào bảng `PHIEU_THU` -&gt; Cập nhật số tiền `DaDong` trong bảng `HOC_PHI`. Đảm bảo tính nhất quán của số dư.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Thủ tục lưu trữ (Stored Procedures):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sp_BaoCaoDoanhThuHocPhi`: Sử dụng `SUM`, `JOIN` và `GROUP BY` để thống kê tiền học phí thực thu theo từng Khoa.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sp_BaoCaoChatLuong_LHP`: Tính toán tỷ lệ phần trăm Đậu/Rớt và tìm điểm cao nhất của một lớp.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sp_ThongKeSVNoHocPhi`: Lọc danh sách sinh viên chưa hoàn thành học phí trong kỳ để gửi thông báo.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282575"/>
            <a:ext cx="6858000" cy="944563"/>
          </a:xfrm>
        </p:spPr>
        <p:txBody>
          <a:bodyPr/>
          <a:lstStyle/>
          <a:p>
            <a:r>
              <a:rPr lang="en-US"/>
              <a:t>STORED OBJECTS &amp; LOGIC</a:t>
            </a:r>
            <a:endParaRPr lang="en-US" b="0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/>
              <a:t>Hàm tự định nghĩa (Stored Functions):</a:t>
            </a:r>
            <a:endParaRPr lang="en-US"/>
          </a:p>
          <a:p>
            <a:pPr lvl="1"/>
            <a:r>
              <a:rPr lang="en-US" smtClean="0"/>
              <a:t>`</a:t>
            </a:r>
            <a:r>
              <a:rPr lang="en-US"/>
              <a:t>func_TinhGPA(mssv)`: Duyệt qua bảng điểm, tính trung bình có trọng số theo số tín chỉ của từng môn học.</a:t>
            </a:r>
            <a:endParaRPr lang="en-US"/>
          </a:p>
          <a:p>
            <a:pPr lvl="1"/>
            <a:r>
              <a:rPr lang="en-US" smtClean="0"/>
              <a:t>`func_TinhTienNo(mssv</a:t>
            </a:r>
            <a:r>
              <a:rPr lang="en-US"/>
              <a:t>, maHK)`: Trả về kết quả (Tổng phải nộp - Tổng đã đóng) cho một sinh viên cụ thể.</a:t>
            </a:r>
            <a:endParaRPr lang="en-US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Trình kích hoạt (Triggers):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trg_CapNhatHocPhi`: Tự động tính toán số tiền học phí phát sinh ngay khi sinh viên đăng ký môn học (Số tín chỉ * Đơn giá) và cộng vào bảng `HOC_PHI`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2373313"/>
            <a:ext cx="7924800" cy="2555875"/>
          </a:xfrm>
        </p:spPr>
        <p:txBody>
          <a:bodyPr/>
          <a:lstStyle/>
          <a:p>
            <a:pPr algn="ctr">
              <a:buFontTx/>
              <a:buNone/>
            </a:pPr>
            <a:endParaRPr lang="en-US" altLang="en-US"/>
          </a:p>
        </p:txBody>
      </p:sp>
      <p:sp>
        <p:nvSpPr>
          <p:cNvPr id="3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5507" y="2133600"/>
            <a:ext cx="8345553" cy="23544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smtClean="0"/>
              <a:t>NHÓM GIAO LƯU SINH VIÊN, CỰU SINH VIÊN</a:t>
            </a:r>
            <a:endParaRPr lang="en-US" sz="2000" b="1" smtClean="0"/>
          </a:p>
          <a:p>
            <a:pPr algn="ctr"/>
            <a:endParaRPr lang="en-US" sz="2000" b="1" smtClean="0"/>
          </a:p>
          <a:p>
            <a:pPr algn="ctr"/>
            <a:r>
              <a:rPr lang="en-US" sz="2200" b="1" smtClean="0">
                <a:solidFill>
                  <a:srgbClr val="FF0000"/>
                </a:solidFill>
              </a:rPr>
              <a:t>CTU – CỘNG ĐỒNG SINH VIÊN TRƯỜNG ĐẠI HỌC CẦN THƠ</a:t>
            </a:r>
            <a:endParaRPr lang="en-US" sz="22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>
              <a:solidFill>
                <a:srgbClr val="FF0000"/>
              </a:solidFill>
            </a:endParaRPr>
          </a:p>
          <a:p>
            <a:pPr algn="ctr"/>
            <a:r>
              <a:rPr lang="en-US" sz="2500" b="1" smtClean="0">
                <a:solidFill>
                  <a:srgbClr val="FF0000"/>
                </a:solidFill>
                <a:hlinkClick r:id="rId1"/>
              </a:rPr>
              <a:t>www.facebook.com/groups/daihoccantho.ctu</a:t>
            </a:r>
            <a:endParaRPr lang="en-US" sz="2500" b="1">
              <a:solidFill>
                <a:srgbClr val="FF0000"/>
              </a:solidFill>
            </a:endParaRPr>
          </a:p>
        </p:txBody>
      </p:sp>
      <p:sp>
        <p:nvSpPr>
          <p:cNvPr id="82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183483" y="3276600"/>
            <a:ext cx="540917" cy="457200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3442</Words>
  <Application>WPS Presentation</Application>
  <PresentationFormat>On-screen Show (4:3)</PresentationFormat>
  <Paragraphs>152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Arial</vt:lpstr>
      <vt:lpstr>SimSun</vt:lpstr>
      <vt:lpstr>Wingdings</vt:lpstr>
      <vt:lpstr>Microsoft YaHei</vt:lpstr>
      <vt:lpstr>Arial Unicode MS</vt:lpstr>
      <vt:lpstr>Calibri</vt:lpstr>
      <vt:lpstr>Times New Roman</vt:lpstr>
      <vt:lpstr>Default Design</vt:lpstr>
      <vt:lpstr>HỆ THỐNG QUẢN LÝ SINH VIÊN</vt:lpstr>
      <vt:lpstr>THÔNG TIN CHUNG</vt:lpstr>
      <vt:lpstr>CHỨC NĂNG CỦA HỆ THỐNG</vt:lpstr>
      <vt:lpstr>CHỨC NĂNG CỦA HỆ THỐNG</vt:lpstr>
      <vt:lpstr>CHỨC NĂNG CỦA HỆ THỐNG</vt:lpstr>
      <vt:lpstr>CHỨC NĂNG CỦA HỆ THỐNG</vt:lpstr>
      <vt:lpstr>PHÂN CÔNG CÔNG VIỆC</vt:lpstr>
      <vt:lpstr>THIẾT KẾ CƠ SỞ DỮ LIỆU</vt:lpstr>
      <vt:lpstr>STORED OBJECTS &amp; LOGIC</vt:lpstr>
      <vt:lpstr>STORED OBJECTS &amp; LOGIC</vt:lpstr>
      <vt:lpstr>STORED OBJECTS &amp; LOGIC</vt:lpstr>
      <vt:lpstr>STORED OBJECTS &amp; LOGIC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CANTHO UNIVERSITY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LRC</dc:creator>
  <cp:lastModifiedBy>Trinh Minh Vi B2306600</cp:lastModifiedBy>
  <cp:revision>62</cp:revision>
  <dcterms:created xsi:type="dcterms:W3CDTF">2008-08-06T06:37:00Z</dcterms:created>
  <dcterms:modified xsi:type="dcterms:W3CDTF">2026-04-10T04:20:22Z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ADC916A4D6BD4782BBAEF7DFCB15887C_12</vt:lpwstr>
  </property>
  <property fmtid="{D5CDD505-2E9C-101B-9397-08002B2CF9AE}" pid="3" name="KSOProductBuildVer">
    <vt:lpwstr>1033-12.1.0.25242</vt:lpwstr>
  </property>
</Properties>
</file>